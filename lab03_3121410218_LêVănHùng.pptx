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8288000" cy="10287000"/>
  <p:notesSz cx="6858000" cy="9144000"/>
  <p:embeddedFontLst>
    <p:embeddedFont>
      <p:font typeface="Canva Sans" panose="020B0604020202020204" charset="0"/>
      <p:regular r:id="rId50"/>
    </p:embeddedFont>
    <p:embeddedFont>
      <p:font typeface="Canva Sans Bold" panose="020B0604020202020204" charset="0"/>
      <p:regular r:id="rId51"/>
    </p:embeddedFont>
    <p:embeddedFont>
      <p:font typeface="Inter" panose="020B0604020202020204" charset="0"/>
      <p:regular r:id="rId52"/>
    </p:embeddedFont>
    <p:embeddedFont>
      <p:font typeface="Inter Bold" panose="020B0604020202020204" charset="0"/>
      <p:regular r:id="rId53"/>
    </p:embeddedFont>
    <p:embeddedFont>
      <p:font typeface="Montserrat Semi-Bold" panose="020B0604020202020204" charset="0"/>
      <p:regular r:id="rId54"/>
    </p:embeddedFont>
    <p:embeddedFont>
      <p:font typeface="Poppins" panose="00000500000000000000" pitchFamily="2" charset="0"/>
      <p:regular r:id="rId55"/>
    </p:embeddedFont>
    <p:embeddedFont>
      <p:font typeface="Poppins Bold" panose="020B0604020202020204" charset="0"/>
      <p:regular r:id="rId56"/>
    </p:embeddedFont>
    <p:embeddedFont>
      <p:font typeface="Poppins Semi-Bold" panose="020B0604020202020204" charset="0"/>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92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13-Oct-25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9222" b="-9222"/>
            </a:stretch>
          </a:blipFill>
        </p:spPr>
        <p:txBody>
          <a:bodyPr/>
          <a:lstStyle/>
          <a:p>
            <a:endParaRPr lang="en-US"/>
          </a:p>
        </p:txBody>
      </p:sp>
      <p:grpSp>
        <p:nvGrpSpPr>
          <p:cNvPr id="3" name="Group 3"/>
          <p:cNvGrpSpPr/>
          <p:nvPr/>
        </p:nvGrpSpPr>
        <p:grpSpPr>
          <a:xfrm rot="-10800000">
            <a:off x="0" y="0"/>
            <a:ext cx="17566674" cy="10680117"/>
            <a:chOff x="0" y="0"/>
            <a:chExt cx="4626614" cy="2812870"/>
          </a:xfrm>
        </p:grpSpPr>
        <p:sp>
          <p:nvSpPr>
            <p:cNvPr id="4" name="Freeform 4"/>
            <p:cNvSpPr/>
            <p:nvPr/>
          </p:nvSpPr>
          <p:spPr>
            <a:xfrm>
              <a:off x="0" y="0"/>
              <a:ext cx="4626614" cy="2812870"/>
            </a:xfrm>
            <a:custGeom>
              <a:avLst/>
              <a:gdLst/>
              <a:ahLst/>
              <a:cxnLst/>
              <a:rect l="l" t="t" r="r" b="b"/>
              <a:pathLst>
                <a:path w="4626614" h="2812870">
                  <a:moveTo>
                    <a:pt x="0" y="0"/>
                  </a:moveTo>
                  <a:lnTo>
                    <a:pt x="4626614" y="0"/>
                  </a:lnTo>
                  <a:lnTo>
                    <a:pt x="4626614" y="2812870"/>
                  </a:lnTo>
                  <a:lnTo>
                    <a:pt x="0" y="2812870"/>
                  </a:lnTo>
                  <a:close/>
                </a:path>
              </a:pathLst>
            </a:custGeom>
            <a:gradFill rotWithShape="1">
              <a:gsLst>
                <a:gs pos="0">
                  <a:srgbClr val="283E51">
                    <a:alpha val="0"/>
                  </a:srgbClr>
                </a:gs>
                <a:gs pos="33333">
                  <a:srgbClr val="283E51">
                    <a:alpha val="75500"/>
                  </a:srgbClr>
                </a:gs>
                <a:gs pos="66667">
                  <a:srgbClr val="283E51">
                    <a:alpha val="100000"/>
                  </a:srgbClr>
                </a:gs>
                <a:gs pos="100000">
                  <a:srgbClr val="122737">
                    <a:alpha val="100000"/>
                  </a:srgbClr>
                </a:gs>
              </a:gsLst>
              <a:lin ang="0"/>
            </a:gradFill>
          </p:spPr>
          <p:txBody>
            <a:bodyPr/>
            <a:lstStyle/>
            <a:p>
              <a:endParaRPr lang="en-US"/>
            </a:p>
          </p:txBody>
        </p:sp>
        <p:sp>
          <p:nvSpPr>
            <p:cNvPr id="5" name="TextBox 5"/>
            <p:cNvSpPr txBox="1"/>
            <p:nvPr/>
          </p:nvSpPr>
          <p:spPr>
            <a:xfrm>
              <a:off x="0" y="-38100"/>
              <a:ext cx="4626614" cy="285097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81945" y="2636944"/>
            <a:ext cx="5141069" cy="514106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89A8"/>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5229981" y="5191946"/>
            <a:ext cx="2586067" cy="258606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CAE4">
                <a:alpha val="49804"/>
              </a:srgbClr>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028700" y="1028700"/>
            <a:ext cx="353245" cy="35324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4A2BB"/>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2622141" y="3484706"/>
            <a:ext cx="10387814" cy="958973"/>
          </a:xfrm>
          <a:prstGeom prst="rect">
            <a:avLst/>
          </a:prstGeom>
        </p:spPr>
        <p:txBody>
          <a:bodyPr lIns="0" tIns="0" rIns="0" bIns="0" rtlCol="0" anchor="t">
            <a:spAutoFit/>
          </a:bodyPr>
          <a:lstStyle/>
          <a:p>
            <a:pPr algn="l">
              <a:lnSpc>
                <a:spcPts val="7858"/>
              </a:lnSpc>
            </a:pPr>
            <a:r>
              <a:rPr lang="en-US" sz="5612" b="1">
                <a:solidFill>
                  <a:srgbClr val="CBE5FA"/>
                </a:solidFill>
                <a:latin typeface="Montserrat Semi-Bold"/>
                <a:ea typeface="Montserrat Semi-Bold"/>
                <a:cs typeface="Montserrat Semi-Bold"/>
                <a:sym typeface="Montserrat Semi-Bold"/>
              </a:rPr>
              <a:t>BÀI TẬP NHÓM LAB 3</a:t>
            </a:r>
          </a:p>
        </p:txBody>
      </p:sp>
      <p:sp>
        <p:nvSpPr>
          <p:cNvPr id="16" name="TextBox 16"/>
          <p:cNvSpPr txBox="1"/>
          <p:nvPr/>
        </p:nvSpPr>
        <p:spPr>
          <a:xfrm>
            <a:off x="1680214" y="981075"/>
            <a:ext cx="4722166" cy="422275"/>
          </a:xfrm>
          <a:prstGeom prst="rect">
            <a:avLst/>
          </a:prstGeom>
        </p:spPr>
        <p:txBody>
          <a:bodyPr lIns="0" tIns="0" rIns="0" bIns="0" rtlCol="0" anchor="t">
            <a:spAutoFit/>
          </a:bodyPr>
          <a:lstStyle/>
          <a:p>
            <a:pPr algn="l">
              <a:lnSpc>
                <a:spcPts val="3499"/>
              </a:lnSpc>
            </a:pPr>
            <a:r>
              <a:rPr lang="en-US" sz="2499">
                <a:solidFill>
                  <a:srgbClr val="FFFFFF"/>
                </a:solidFill>
                <a:latin typeface="Canva Sans"/>
                <a:ea typeface="Canva Sans"/>
                <a:cs typeface="Canva Sans"/>
                <a:sym typeface="Canva Sans"/>
              </a:rPr>
              <a:t>Trí tuệ nhân tạo nâng cao</a:t>
            </a:r>
          </a:p>
        </p:txBody>
      </p:sp>
      <p:grpSp>
        <p:nvGrpSpPr>
          <p:cNvPr id="17" name="Group 17"/>
          <p:cNvGrpSpPr/>
          <p:nvPr/>
        </p:nvGrpSpPr>
        <p:grpSpPr>
          <a:xfrm>
            <a:off x="15985854" y="8781148"/>
            <a:ext cx="1273446" cy="477152"/>
            <a:chOff x="0" y="0"/>
            <a:chExt cx="1084619" cy="406400"/>
          </a:xfrm>
        </p:grpSpPr>
        <p:sp>
          <p:nvSpPr>
            <p:cNvPr id="18" name="Freeform 18"/>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9" name="TextBox 19"/>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6055598" y="8866465"/>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01</a:t>
            </a:r>
          </a:p>
        </p:txBody>
      </p:sp>
      <p:sp>
        <p:nvSpPr>
          <p:cNvPr id="21" name="TextBox 21"/>
          <p:cNvSpPr txBox="1"/>
          <p:nvPr/>
        </p:nvSpPr>
        <p:spPr>
          <a:xfrm>
            <a:off x="2622141" y="4729205"/>
            <a:ext cx="7433516" cy="1233805"/>
          </a:xfrm>
          <a:prstGeom prst="rect">
            <a:avLst/>
          </a:prstGeom>
        </p:spPr>
        <p:txBody>
          <a:bodyPr lIns="0" tIns="0" rIns="0" bIns="0" rtlCol="0" anchor="t">
            <a:spAutoFit/>
          </a:bodyPr>
          <a:lstStyle/>
          <a:p>
            <a:pPr algn="l">
              <a:lnSpc>
                <a:spcPts val="3200"/>
              </a:lnSpc>
            </a:pPr>
            <a:r>
              <a:rPr lang="en-US" sz="3200">
                <a:solidFill>
                  <a:srgbClr val="FFFFFF"/>
                </a:solidFill>
                <a:latin typeface="Inter"/>
                <a:ea typeface="Inter"/>
                <a:cs typeface="Inter"/>
                <a:sym typeface="Inter"/>
              </a:rPr>
              <a:t>NHÓM 16</a:t>
            </a:r>
          </a:p>
          <a:p>
            <a:pPr algn="l">
              <a:lnSpc>
                <a:spcPts val="3200"/>
              </a:lnSpc>
            </a:pPr>
            <a:r>
              <a:rPr lang="en-US" sz="3200" spc="188">
                <a:solidFill>
                  <a:srgbClr val="FFFFFF"/>
                </a:solidFill>
                <a:latin typeface="Inter"/>
                <a:ea typeface="Inter"/>
                <a:cs typeface="Inter"/>
                <a:sym typeface="Inter"/>
              </a:rPr>
              <a:t>3121410218 - LÊ VĂN HÙNG</a:t>
            </a:r>
          </a:p>
          <a:p>
            <a:pPr algn="l">
              <a:lnSpc>
                <a:spcPts val="3200"/>
              </a:lnSpc>
            </a:pPr>
            <a:r>
              <a:rPr lang="en-US" sz="3200" spc="188">
                <a:solidFill>
                  <a:srgbClr val="FFFFFF"/>
                </a:solidFill>
                <a:latin typeface="Inter"/>
                <a:ea typeface="Inter"/>
                <a:cs typeface="Inter"/>
                <a:sym typeface="Inter"/>
              </a:rPr>
              <a:t>3121410568 - VŨ QUANG TÙNG</a:t>
            </a:r>
          </a:p>
        </p:txBody>
      </p:sp>
      <p:sp>
        <p:nvSpPr>
          <p:cNvPr id="22" name="TextBox 22"/>
          <p:cNvSpPr txBox="1"/>
          <p:nvPr/>
        </p:nvSpPr>
        <p:spPr>
          <a:xfrm>
            <a:off x="2622141" y="6248760"/>
            <a:ext cx="7433516" cy="433705"/>
          </a:xfrm>
          <a:prstGeom prst="rect">
            <a:avLst/>
          </a:prstGeom>
        </p:spPr>
        <p:txBody>
          <a:bodyPr lIns="0" tIns="0" rIns="0" bIns="0" rtlCol="0" anchor="t">
            <a:spAutoFit/>
          </a:bodyPr>
          <a:lstStyle/>
          <a:p>
            <a:pPr algn="l">
              <a:lnSpc>
                <a:spcPts val="3200"/>
              </a:lnSpc>
            </a:pPr>
            <a:r>
              <a:rPr lang="en-US" sz="3200">
                <a:solidFill>
                  <a:srgbClr val="FFFFFF"/>
                </a:solidFill>
                <a:latin typeface="Inter"/>
                <a:ea typeface="Inter"/>
                <a:cs typeface="Inter"/>
                <a:sym typeface="Inter"/>
              </a:rPr>
              <a:t>GVHD: TS. Đỗ Như tài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63744"/>
        </a:solidFill>
        <a:effectLst/>
      </p:bgPr>
    </p:bg>
    <p:spTree>
      <p:nvGrpSpPr>
        <p:cNvPr id="1" name=""/>
        <p:cNvGrpSpPr/>
        <p:nvPr/>
      </p:nvGrpSpPr>
      <p:grpSpPr>
        <a:xfrm>
          <a:off x="0" y="0"/>
          <a:ext cx="0" cy="0"/>
          <a:chOff x="0" y="0"/>
          <a:chExt cx="0" cy="0"/>
        </a:xfrm>
      </p:grpSpPr>
      <p:grpSp>
        <p:nvGrpSpPr>
          <p:cNvPr id="2" name="Group 2"/>
          <p:cNvGrpSpPr/>
          <p:nvPr/>
        </p:nvGrpSpPr>
        <p:grpSpPr>
          <a:xfrm>
            <a:off x="15236281" y="2033228"/>
            <a:ext cx="3051719" cy="5253514"/>
            <a:chOff x="0" y="0"/>
            <a:chExt cx="803745" cy="1383642"/>
          </a:xfrm>
        </p:grpSpPr>
        <p:sp>
          <p:nvSpPr>
            <p:cNvPr id="3" name="Freeform 3"/>
            <p:cNvSpPr/>
            <p:nvPr/>
          </p:nvSpPr>
          <p:spPr>
            <a:xfrm>
              <a:off x="0" y="0"/>
              <a:ext cx="803745" cy="1383642"/>
            </a:xfrm>
            <a:custGeom>
              <a:avLst/>
              <a:gdLst/>
              <a:ahLst/>
              <a:cxnLst/>
              <a:rect l="l" t="t" r="r" b="b"/>
              <a:pathLst>
                <a:path w="803745" h="1383642">
                  <a:moveTo>
                    <a:pt x="129382" y="0"/>
                  </a:moveTo>
                  <a:lnTo>
                    <a:pt x="674363" y="0"/>
                  </a:lnTo>
                  <a:cubicBezTo>
                    <a:pt x="745819" y="0"/>
                    <a:pt x="803745" y="57926"/>
                    <a:pt x="803745" y="129382"/>
                  </a:cubicBezTo>
                  <a:lnTo>
                    <a:pt x="803745" y="1254259"/>
                  </a:lnTo>
                  <a:cubicBezTo>
                    <a:pt x="803745" y="1325715"/>
                    <a:pt x="745819" y="1383642"/>
                    <a:pt x="674363" y="1383642"/>
                  </a:cubicBezTo>
                  <a:lnTo>
                    <a:pt x="129382" y="1383642"/>
                  </a:lnTo>
                  <a:cubicBezTo>
                    <a:pt x="57926" y="1383642"/>
                    <a:pt x="0" y="1325715"/>
                    <a:pt x="0" y="1254259"/>
                  </a:cubicBezTo>
                  <a:lnTo>
                    <a:pt x="0" y="129382"/>
                  </a:lnTo>
                  <a:cubicBezTo>
                    <a:pt x="0" y="57926"/>
                    <a:pt x="57926" y="0"/>
                    <a:pt x="129382" y="0"/>
                  </a:cubicBezTo>
                  <a:close/>
                </a:path>
              </a:pathLst>
            </a:custGeom>
            <a:gradFill rotWithShape="1">
              <a:gsLst>
                <a:gs pos="0">
                  <a:srgbClr val="3D607D">
                    <a:alpha val="100000"/>
                  </a:srgbClr>
                </a:gs>
                <a:gs pos="20000">
                  <a:srgbClr val="3D607D">
                    <a:alpha val="100000"/>
                  </a:srgbClr>
                </a:gs>
                <a:gs pos="40000">
                  <a:srgbClr val="263744">
                    <a:alpha val="100000"/>
                  </a:srgbClr>
                </a:gs>
                <a:gs pos="60000">
                  <a:srgbClr val="263744">
                    <a:alpha val="100000"/>
                  </a:srgbClr>
                </a:gs>
                <a:gs pos="80000">
                  <a:srgbClr val="3D607D">
                    <a:alpha val="100000"/>
                  </a:srgbClr>
                </a:gs>
                <a:gs pos="100000">
                  <a:srgbClr val="3D607D">
                    <a:alpha val="100000"/>
                  </a:srgbClr>
                </a:gs>
              </a:gsLst>
              <a:lin ang="2700000"/>
            </a:gradFill>
          </p:spPr>
          <p:txBody>
            <a:bodyPr/>
            <a:lstStyle/>
            <a:p>
              <a:endParaRPr lang="en-US"/>
            </a:p>
          </p:txBody>
        </p:sp>
        <p:sp>
          <p:nvSpPr>
            <p:cNvPr id="4" name="TextBox 4"/>
            <p:cNvSpPr txBox="1"/>
            <p:nvPr/>
          </p:nvSpPr>
          <p:spPr>
            <a:xfrm>
              <a:off x="0" y="-38100"/>
              <a:ext cx="803745" cy="142174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603806" y="2274068"/>
            <a:ext cx="7056899" cy="8727606"/>
            <a:chOff x="0" y="0"/>
            <a:chExt cx="1185257" cy="1465864"/>
          </a:xfrm>
        </p:grpSpPr>
        <p:sp>
          <p:nvSpPr>
            <p:cNvPr id="6" name="Freeform 6"/>
            <p:cNvSpPr/>
            <p:nvPr/>
          </p:nvSpPr>
          <p:spPr>
            <a:xfrm>
              <a:off x="0" y="0"/>
              <a:ext cx="1185257" cy="1465864"/>
            </a:xfrm>
            <a:custGeom>
              <a:avLst/>
              <a:gdLst/>
              <a:ahLst/>
              <a:cxnLst/>
              <a:rect l="l" t="t" r="r" b="b"/>
              <a:pathLst>
                <a:path w="1185257" h="1465864">
                  <a:moveTo>
                    <a:pt x="43883" y="0"/>
                  </a:moveTo>
                  <a:lnTo>
                    <a:pt x="1141374" y="0"/>
                  </a:lnTo>
                  <a:cubicBezTo>
                    <a:pt x="1153012" y="0"/>
                    <a:pt x="1164174" y="4623"/>
                    <a:pt x="1172404" y="12853"/>
                  </a:cubicBezTo>
                  <a:cubicBezTo>
                    <a:pt x="1180633" y="21083"/>
                    <a:pt x="1185257" y="32244"/>
                    <a:pt x="1185257" y="43883"/>
                  </a:cubicBezTo>
                  <a:lnTo>
                    <a:pt x="1185257" y="1421981"/>
                  </a:lnTo>
                  <a:cubicBezTo>
                    <a:pt x="1185257" y="1446217"/>
                    <a:pt x="1165610" y="1465864"/>
                    <a:pt x="1141374" y="1465864"/>
                  </a:cubicBezTo>
                  <a:lnTo>
                    <a:pt x="43883" y="1465864"/>
                  </a:lnTo>
                  <a:cubicBezTo>
                    <a:pt x="19647" y="1465864"/>
                    <a:pt x="0" y="1446217"/>
                    <a:pt x="0" y="1421981"/>
                  </a:cubicBezTo>
                  <a:lnTo>
                    <a:pt x="0" y="43883"/>
                  </a:lnTo>
                  <a:cubicBezTo>
                    <a:pt x="0" y="19647"/>
                    <a:pt x="19647" y="0"/>
                    <a:pt x="43883" y="0"/>
                  </a:cubicBezTo>
                  <a:close/>
                </a:path>
              </a:pathLst>
            </a:custGeom>
            <a:blipFill>
              <a:blip r:embed="rId2"/>
              <a:stretch>
                <a:fillRect l="-30239" r="-55388"/>
              </a:stretch>
            </a:blipFill>
          </p:spPr>
          <p:txBody>
            <a:bodyPr/>
            <a:lstStyle/>
            <a:p>
              <a:endParaRPr lang="en-US"/>
            </a:p>
          </p:txBody>
        </p:sp>
      </p:grpSp>
      <p:grpSp>
        <p:nvGrpSpPr>
          <p:cNvPr id="7" name="Group 7"/>
          <p:cNvGrpSpPr/>
          <p:nvPr/>
        </p:nvGrpSpPr>
        <p:grpSpPr>
          <a:xfrm>
            <a:off x="15985854" y="8781148"/>
            <a:ext cx="1273446" cy="477152"/>
            <a:chOff x="0" y="0"/>
            <a:chExt cx="1084619" cy="406400"/>
          </a:xfrm>
        </p:grpSpPr>
        <p:sp>
          <p:nvSpPr>
            <p:cNvPr id="8" name="Freeform 8"/>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9" name="TextBox 9"/>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2529668" y="6157459"/>
            <a:ext cx="4606755" cy="2258566"/>
            <a:chOff x="0" y="0"/>
            <a:chExt cx="1213302" cy="594849"/>
          </a:xfrm>
        </p:grpSpPr>
        <p:sp>
          <p:nvSpPr>
            <p:cNvPr id="11" name="Freeform 11"/>
            <p:cNvSpPr/>
            <p:nvPr/>
          </p:nvSpPr>
          <p:spPr>
            <a:xfrm>
              <a:off x="0" y="0"/>
              <a:ext cx="1213302" cy="594849"/>
            </a:xfrm>
            <a:custGeom>
              <a:avLst/>
              <a:gdLst/>
              <a:ahLst/>
              <a:cxnLst/>
              <a:rect l="l" t="t" r="r" b="b"/>
              <a:pathLst>
                <a:path w="1213302" h="594849">
                  <a:moveTo>
                    <a:pt x="50417" y="0"/>
                  </a:moveTo>
                  <a:lnTo>
                    <a:pt x="1162885" y="0"/>
                  </a:lnTo>
                  <a:cubicBezTo>
                    <a:pt x="1190729" y="0"/>
                    <a:pt x="1213302" y="22572"/>
                    <a:pt x="1213302" y="50417"/>
                  </a:cubicBezTo>
                  <a:lnTo>
                    <a:pt x="1213302" y="544432"/>
                  </a:lnTo>
                  <a:cubicBezTo>
                    <a:pt x="1213302" y="572276"/>
                    <a:pt x="1190729" y="594849"/>
                    <a:pt x="1162885" y="594849"/>
                  </a:cubicBezTo>
                  <a:lnTo>
                    <a:pt x="50417" y="594849"/>
                  </a:lnTo>
                  <a:cubicBezTo>
                    <a:pt x="22572" y="594849"/>
                    <a:pt x="0" y="572276"/>
                    <a:pt x="0" y="544432"/>
                  </a:cubicBezTo>
                  <a:lnTo>
                    <a:pt x="0" y="50417"/>
                  </a:lnTo>
                  <a:cubicBezTo>
                    <a:pt x="0" y="22572"/>
                    <a:pt x="22572" y="0"/>
                    <a:pt x="50417" y="0"/>
                  </a:cubicBezTo>
                  <a:close/>
                </a:path>
              </a:pathLst>
            </a:custGeom>
            <a:solidFill>
              <a:srgbClr val="6489A8"/>
            </a:solidFill>
          </p:spPr>
          <p:txBody>
            <a:bodyPr/>
            <a:lstStyle/>
            <a:p>
              <a:endParaRPr lang="en-US"/>
            </a:p>
          </p:txBody>
        </p:sp>
        <p:sp>
          <p:nvSpPr>
            <p:cNvPr id="12" name="TextBox 12"/>
            <p:cNvSpPr txBox="1"/>
            <p:nvPr/>
          </p:nvSpPr>
          <p:spPr>
            <a:xfrm>
              <a:off x="0" y="-38100"/>
              <a:ext cx="1213302" cy="63294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788751" y="7337993"/>
            <a:ext cx="3051719" cy="3363461"/>
            <a:chOff x="0" y="0"/>
            <a:chExt cx="803745" cy="885850"/>
          </a:xfrm>
        </p:grpSpPr>
        <p:sp>
          <p:nvSpPr>
            <p:cNvPr id="14" name="Freeform 14"/>
            <p:cNvSpPr/>
            <p:nvPr/>
          </p:nvSpPr>
          <p:spPr>
            <a:xfrm>
              <a:off x="0" y="0"/>
              <a:ext cx="803745" cy="885850"/>
            </a:xfrm>
            <a:custGeom>
              <a:avLst/>
              <a:gdLst/>
              <a:ahLst/>
              <a:cxnLst/>
              <a:rect l="l" t="t" r="r" b="b"/>
              <a:pathLst>
                <a:path w="803745" h="885850">
                  <a:moveTo>
                    <a:pt x="129382" y="0"/>
                  </a:moveTo>
                  <a:lnTo>
                    <a:pt x="674363" y="0"/>
                  </a:lnTo>
                  <a:cubicBezTo>
                    <a:pt x="745819" y="0"/>
                    <a:pt x="803745" y="57926"/>
                    <a:pt x="803745" y="129382"/>
                  </a:cubicBezTo>
                  <a:lnTo>
                    <a:pt x="803745" y="756468"/>
                  </a:lnTo>
                  <a:cubicBezTo>
                    <a:pt x="803745" y="827923"/>
                    <a:pt x="745819" y="885850"/>
                    <a:pt x="674363" y="885850"/>
                  </a:cubicBezTo>
                  <a:lnTo>
                    <a:pt x="129382" y="885850"/>
                  </a:lnTo>
                  <a:cubicBezTo>
                    <a:pt x="57926" y="885850"/>
                    <a:pt x="0" y="827923"/>
                    <a:pt x="0" y="756468"/>
                  </a:cubicBezTo>
                  <a:lnTo>
                    <a:pt x="0" y="129382"/>
                  </a:lnTo>
                  <a:cubicBezTo>
                    <a:pt x="0" y="57926"/>
                    <a:pt x="57926" y="0"/>
                    <a:pt x="129382" y="0"/>
                  </a:cubicBezTo>
                  <a:close/>
                </a:path>
              </a:pathLst>
            </a:custGeom>
            <a:gradFill rotWithShape="1">
              <a:gsLst>
                <a:gs pos="0">
                  <a:srgbClr val="3D607D">
                    <a:alpha val="100000"/>
                  </a:srgbClr>
                </a:gs>
                <a:gs pos="20000">
                  <a:srgbClr val="3D607D">
                    <a:alpha val="100000"/>
                  </a:srgbClr>
                </a:gs>
                <a:gs pos="40000">
                  <a:srgbClr val="263744">
                    <a:alpha val="100000"/>
                  </a:srgbClr>
                </a:gs>
                <a:gs pos="60000">
                  <a:srgbClr val="263744">
                    <a:alpha val="100000"/>
                  </a:srgbClr>
                </a:gs>
                <a:gs pos="80000">
                  <a:srgbClr val="3D607D">
                    <a:alpha val="100000"/>
                  </a:srgbClr>
                </a:gs>
                <a:gs pos="100000">
                  <a:srgbClr val="3D607D">
                    <a:alpha val="100000"/>
                  </a:srgbClr>
                </a:gs>
              </a:gsLst>
              <a:lin ang="2700000"/>
            </a:gradFill>
          </p:spPr>
          <p:txBody>
            <a:bodyPr/>
            <a:lstStyle/>
            <a:p>
              <a:endParaRPr lang="en-US"/>
            </a:p>
          </p:txBody>
        </p:sp>
        <p:sp>
          <p:nvSpPr>
            <p:cNvPr id="15" name="TextBox 15"/>
            <p:cNvSpPr txBox="1"/>
            <p:nvPr/>
          </p:nvSpPr>
          <p:spPr>
            <a:xfrm>
              <a:off x="0" y="-38100"/>
              <a:ext cx="803745" cy="9239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2116487" y="6817990"/>
            <a:ext cx="937505" cy="93750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E5FA"/>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8018564" y="6157459"/>
            <a:ext cx="4606755" cy="2258566"/>
            <a:chOff x="0" y="0"/>
            <a:chExt cx="1213302" cy="594849"/>
          </a:xfrm>
        </p:grpSpPr>
        <p:sp>
          <p:nvSpPr>
            <p:cNvPr id="20" name="Freeform 20"/>
            <p:cNvSpPr/>
            <p:nvPr/>
          </p:nvSpPr>
          <p:spPr>
            <a:xfrm>
              <a:off x="0" y="0"/>
              <a:ext cx="1213302" cy="594849"/>
            </a:xfrm>
            <a:custGeom>
              <a:avLst/>
              <a:gdLst/>
              <a:ahLst/>
              <a:cxnLst/>
              <a:rect l="l" t="t" r="r" b="b"/>
              <a:pathLst>
                <a:path w="1213302" h="594849">
                  <a:moveTo>
                    <a:pt x="50417" y="0"/>
                  </a:moveTo>
                  <a:lnTo>
                    <a:pt x="1162885" y="0"/>
                  </a:lnTo>
                  <a:cubicBezTo>
                    <a:pt x="1190729" y="0"/>
                    <a:pt x="1213302" y="22572"/>
                    <a:pt x="1213302" y="50417"/>
                  </a:cubicBezTo>
                  <a:lnTo>
                    <a:pt x="1213302" y="544432"/>
                  </a:lnTo>
                  <a:cubicBezTo>
                    <a:pt x="1213302" y="572276"/>
                    <a:pt x="1190729" y="594849"/>
                    <a:pt x="1162885" y="594849"/>
                  </a:cubicBezTo>
                  <a:lnTo>
                    <a:pt x="50417" y="594849"/>
                  </a:lnTo>
                  <a:cubicBezTo>
                    <a:pt x="22572" y="594849"/>
                    <a:pt x="0" y="572276"/>
                    <a:pt x="0" y="544432"/>
                  </a:cubicBezTo>
                  <a:lnTo>
                    <a:pt x="0" y="50417"/>
                  </a:lnTo>
                  <a:cubicBezTo>
                    <a:pt x="0" y="22572"/>
                    <a:pt x="22572" y="0"/>
                    <a:pt x="50417" y="0"/>
                  </a:cubicBezTo>
                  <a:close/>
                </a:path>
              </a:pathLst>
            </a:custGeom>
            <a:solidFill>
              <a:srgbClr val="6489A8"/>
            </a:solidFill>
          </p:spPr>
          <p:txBody>
            <a:bodyPr/>
            <a:lstStyle/>
            <a:p>
              <a:endParaRPr lang="en-US"/>
            </a:p>
          </p:txBody>
        </p:sp>
        <p:sp>
          <p:nvSpPr>
            <p:cNvPr id="21" name="TextBox 21"/>
            <p:cNvSpPr txBox="1"/>
            <p:nvPr/>
          </p:nvSpPr>
          <p:spPr>
            <a:xfrm>
              <a:off x="0" y="-38100"/>
              <a:ext cx="1213302" cy="632949"/>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7605384" y="6817990"/>
            <a:ext cx="937505" cy="93750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E5FA"/>
            </a:solidFill>
          </p:spPr>
          <p:txBody>
            <a:bodyPr/>
            <a:lstStyle/>
            <a:p>
              <a:endParaRPr lang="en-US"/>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16055598" y="8866465"/>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02</a:t>
            </a:r>
          </a:p>
        </p:txBody>
      </p:sp>
      <p:sp>
        <p:nvSpPr>
          <p:cNvPr id="26" name="TextBox 26"/>
          <p:cNvSpPr txBox="1"/>
          <p:nvPr/>
        </p:nvSpPr>
        <p:spPr>
          <a:xfrm>
            <a:off x="2529668" y="2897016"/>
            <a:ext cx="7236003" cy="860425"/>
          </a:xfrm>
          <a:prstGeom prst="rect">
            <a:avLst/>
          </a:prstGeom>
        </p:spPr>
        <p:txBody>
          <a:bodyPr lIns="0" tIns="0" rIns="0" bIns="0" rtlCol="0" anchor="t">
            <a:spAutoFit/>
          </a:bodyPr>
          <a:lstStyle/>
          <a:p>
            <a:pPr algn="l">
              <a:lnSpc>
                <a:spcPts val="6499"/>
              </a:lnSpc>
            </a:pPr>
            <a:r>
              <a:rPr lang="en-US" sz="6499" b="1">
                <a:solidFill>
                  <a:srgbClr val="FFFFFF"/>
                </a:solidFill>
                <a:latin typeface="Inter Bold"/>
                <a:ea typeface="Inter Bold"/>
                <a:cs typeface="Inter Bold"/>
                <a:sym typeface="Inter Bold"/>
              </a:rPr>
              <a:t>PROBLEMS</a:t>
            </a:r>
          </a:p>
        </p:txBody>
      </p:sp>
      <p:sp>
        <p:nvSpPr>
          <p:cNvPr id="27" name="TextBox 27"/>
          <p:cNvSpPr txBox="1"/>
          <p:nvPr/>
        </p:nvSpPr>
        <p:spPr>
          <a:xfrm>
            <a:off x="2250664" y="7032742"/>
            <a:ext cx="669152" cy="441325"/>
          </a:xfrm>
          <a:prstGeom prst="rect">
            <a:avLst/>
          </a:prstGeom>
        </p:spPr>
        <p:txBody>
          <a:bodyPr lIns="0" tIns="0" rIns="0" bIns="0" rtlCol="0" anchor="t">
            <a:spAutoFit/>
          </a:bodyPr>
          <a:lstStyle/>
          <a:p>
            <a:pPr algn="ctr">
              <a:lnSpc>
                <a:spcPts val="3499"/>
              </a:lnSpc>
            </a:pPr>
            <a:r>
              <a:rPr lang="en-US" sz="2499" b="1">
                <a:solidFill>
                  <a:srgbClr val="263744"/>
                </a:solidFill>
                <a:latin typeface="Poppins Bold"/>
                <a:ea typeface="Poppins Bold"/>
                <a:cs typeface="Poppins Bold"/>
                <a:sym typeface="Poppins Bold"/>
              </a:rPr>
              <a:t>01.</a:t>
            </a:r>
          </a:p>
        </p:txBody>
      </p:sp>
      <p:sp>
        <p:nvSpPr>
          <p:cNvPr id="28" name="TextBox 28"/>
          <p:cNvSpPr txBox="1"/>
          <p:nvPr/>
        </p:nvSpPr>
        <p:spPr>
          <a:xfrm>
            <a:off x="3316971" y="6386734"/>
            <a:ext cx="3611605" cy="441325"/>
          </a:xfrm>
          <a:prstGeom prst="rect">
            <a:avLst/>
          </a:prstGeom>
        </p:spPr>
        <p:txBody>
          <a:bodyPr lIns="0" tIns="0" rIns="0" bIns="0" rtlCol="0" anchor="t">
            <a:spAutoFit/>
          </a:bodyPr>
          <a:lstStyle/>
          <a:p>
            <a:pPr algn="l">
              <a:lnSpc>
                <a:spcPts val="3499"/>
              </a:lnSpc>
            </a:pPr>
            <a:r>
              <a:rPr lang="en-US" sz="2499" b="1">
                <a:solidFill>
                  <a:srgbClr val="FFFFFF"/>
                </a:solidFill>
                <a:latin typeface="Poppins Semi-Bold"/>
                <a:ea typeface="Poppins Semi-Bold"/>
                <a:cs typeface="Poppins Semi-Bold"/>
                <a:sym typeface="Poppins Semi-Bold"/>
              </a:rPr>
              <a:t>n-Queen Problem</a:t>
            </a:r>
          </a:p>
        </p:txBody>
      </p:sp>
      <p:sp>
        <p:nvSpPr>
          <p:cNvPr id="29" name="TextBox 29"/>
          <p:cNvSpPr txBox="1"/>
          <p:nvPr/>
        </p:nvSpPr>
        <p:spPr>
          <a:xfrm>
            <a:off x="3316971" y="7271318"/>
            <a:ext cx="3611605"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Bài toán n quân hậu</a:t>
            </a:r>
          </a:p>
        </p:txBody>
      </p:sp>
      <p:sp>
        <p:nvSpPr>
          <p:cNvPr id="30" name="TextBox 30"/>
          <p:cNvSpPr txBox="1"/>
          <p:nvPr/>
        </p:nvSpPr>
        <p:spPr>
          <a:xfrm>
            <a:off x="7739560" y="7032742"/>
            <a:ext cx="669152" cy="441325"/>
          </a:xfrm>
          <a:prstGeom prst="rect">
            <a:avLst/>
          </a:prstGeom>
        </p:spPr>
        <p:txBody>
          <a:bodyPr lIns="0" tIns="0" rIns="0" bIns="0" rtlCol="0" anchor="t">
            <a:spAutoFit/>
          </a:bodyPr>
          <a:lstStyle/>
          <a:p>
            <a:pPr algn="ctr">
              <a:lnSpc>
                <a:spcPts val="3499"/>
              </a:lnSpc>
            </a:pPr>
            <a:r>
              <a:rPr lang="en-US" sz="2499" b="1">
                <a:solidFill>
                  <a:srgbClr val="263744"/>
                </a:solidFill>
                <a:latin typeface="Poppins Bold"/>
                <a:ea typeface="Poppins Bold"/>
                <a:cs typeface="Poppins Bold"/>
                <a:sym typeface="Poppins Bold"/>
              </a:rPr>
              <a:t>02.</a:t>
            </a:r>
          </a:p>
        </p:txBody>
      </p:sp>
      <p:sp>
        <p:nvSpPr>
          <p:cNvPr id="31" name="TextBox 31"/>
          <p:cNvSpPr txBox="1"/>
          <p:nvPr/>
        </p:nvSpPr>
        <p:spPr>
          <a:xfrm>
            <a:off x="8805867" y="6386734"/>
            <a:ext cx="3611605" cy="879475"/>
          </a:xfrm>
          <a:prstGeom prst="rect">
            <a:avLst/>
          </a:prstGeom>
        </p:spPr>
        <p:txBody>
          <a:bodyPr lIns="0" tIns="0" rIns="0" bIns="0" rtlCol="0" anchor="t">
            <a:spAutoFit/>
          </a:bodyPr>
          <a:lstStyle/>
          <a:p>
            <a:pPr algn="l">
              <a:lnSpc>
                <a:spcPts val="3499"/>
              </a:lnSpc>
            </a:pPr>
            <a:r>
              <a:rPr lang="en-US" sz="2499" b="1">
                <a:solidFill>
                  <a:srgbClr val="FFFFFF"/>
                </a:solidFill>
                <a:latin typeface="Poppins Semi-Bold"/>
                <a:ea typeface="Poppins Semi-Bold"/>
                <a:cs typeface="Poppins Semi-Bold"/>
                <a:sym typeface="Poppins Semi-Bold"/>
              </a:rPr>
              <a:t>Traveling Salesman Problem</a:t>
            </a:r>
          </a:p>
        </p:txBody>
      </p:sp>
      <p:sp>
        <p:nvSpPr>
          <p:cNvPr id="32" name="TextBox 32"/>
          <p:cNvSpPr txBox="1"/>
          <p:nvPr/>
        </p:nvSpPr>
        <p:spPr>
          <a:xfrm>
            <a:off x="8805867" y="7271318"/>
            <a:ext cx="3611605"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Bài toán người bán hàng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4600"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17959" y="2214455"/>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46125" y="592094"/>
            <a:ext cx="3981709" cy="4096385"/>
          </a:xfrm>
          <a:prstGeom prst="rect">
            <a:avLst/>
          </a:prstGeom>
        </p:spPr>
        <p:txBody>
          <a:bodyPr lIns="0" tIns="0" rIns="0" bIns="0" rtlCol="0" anchor="t">
            <a:spAutoFit/>
          </a:bodyPr>
          <a:lstStyle/>
          <a:p>
            <a:pPr algn="l">
              <a:lnSpc>
                <a:spcPts val="6399"/>
              </a:lnSpc>
            </a:pPr>
            <a:r>
              <a:rPr lang="en-US" sz="6399"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03</a:t>
            </a:r>
          </a:p>
        </p:txBody>
      </p:sp>
      <p:sp>
        <p:nvSpPr>
          <p:cNvPr id="13" name="TextBox 13"/>
          <p:cNvSpPr txBox="1"/>
          <p:nvPr/>
        </p:nvSpPr>
        <p:spPr>
          <a:xfrm>
            <a:off x="5586077" y="2849285"/>
            <a:ext cx="11634062" cy="281432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Poppins"/>
                <a:ea typeface="Poppins"/>
                <a:cs typeface="Poppins"/>
                <a:sym typeface="Poppins"/>
              </a:rPr>
              <a:t>Tính toán hàm mục tiêu cho tất cả các bước di chuyển cục bộ và luôn chọn bước di chuyển tốt nhất trong số tất cả các bước di chuyển cục bộ.</a:t>
            </a:r>
          </a:p>
          <a:p>
            <a:pPr marL="690881" lvl="1" indent="-345440" algn="l">
              <a:lnSpc>
                <a:spcPts val="4480"/>
              </a:lnSpc>
              <a:buFont typeface="Arial"/>
              <a:buChar char="•"/>
            </a:pPr>
            <a:r>
              <a:rPr lang="en-US" sz="3200">
                <a:solidFill>
                  <a:srgbClr val="000000"/>
                </a:solidFill>
                <a:latin typeface="Poppins"/>
                <a:ea typeface="Poppins"/>
                <a:cs typeface="Poppins"/>
                <a:sym typeface="Poppins"/>
              </a:rPr>
              <a:t>Nếu không có bước di chuyển cục bộ nào cải thiện mục tiêu, thì đã đạt đến điểm tối ưu cục bộ.</a:t>
            </a:r>
          </a:p>
        </p:txBody>
      </p:sp>
      <p:sp>
        <p:nvSpPr>
          <p:cNvPr id="14" name="TextBox 14"/>
          <p:cNvSpPr txBox="1"/>
          <p:nvPr/>
        </p:nvSpPr>
        <p:spPr>
          <a:xfrm>
            <a:off x="5586077" y="601619"/>
            <a:ext cx="11673223" cy="1679575"/>
          </a:xfrm>
          <a:prstGeom prst="rect">
            <a:avLst/>
          </a:prstGeom>
        </p:spPr>
        <p:txBody>
          <a:bodyPr lIns="0" tIns="0" rIns="0" bIns="0" rtlCol="0" anchor="t">
            <a:spAutoFit/>
          </a:bodyPr>
          <a:lstStyle/>
          <a:p>
            <a:pPr algn="l">
              <a:lnSpc>
                <a:spcPts val="6499"/>
              </a:lnSpc>
            </a:pPr>
            <a:r>
              <a:rPr lang="en-US" sz="6499" b="1">
                <a:solidFill>
                  <a:srgbClr val="263744"/>
                </a:solidFill>
                <a:latin typeface="Inter Bold"/>
                <a:ea typeface="Inter Bold"/>
                <a:cs typeface="Inter Bold"/>
                <a:sym typeface="Inter Bold"/>
              </a:rPr>
              <a:t>Task 1: Steepest-ascend Hill Climbing Search</a:t>
            </a:r>
          </a:p>
        </p:txBody>
      </p:sp>
      <p:sp>
        <p:nvSpPr>
          <p:cNvPr id="15" name="Freeform 15"/>
          <p:cNvSpPr/>
          <p:nvPr/>
        </p:nvSpPr>
        <p:spPr>
          <a:xfrm>
            <a:off x="14129800" y="6569132"/>
            <a:ext cx="3090340" cy="3090340"/>
          </a:xfrm>
          <a:custGeom>
            <a:avLst/>
            <a:gdLst/>
            <a:ahLst/>
            <a:cxnLst/>
            <a:rect l="l" t="t" r="r" b="b"/>
            <a:pathLst>
              <a:path w="3090340" h="3090340">
                <a:moveTo>
                  <a:pt x="0" y="0"/>
                </a:moveTo>
                <a:lnTo>
                  <a:pt x="3090339" y="0"/>
                </a:lnTo>
                <a:lnTo>
                  <a:pt x="3090339" y="3090340"/>
                </a:lnTo>
                <a:lnTo>
                  <a:pt x="0" y="3090340"/>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488309" y="117242"/>
            <a:ext cx="14038646" cy="9546279"/>
          </a:xfrm>
          <a:custGeom>
            <a:avLst/>
            <a:gdLst/>
            <a:ahLst/>
            <a:cxnLst/>
            <a:rect l="l" t="t" r="r" b="b"/>
            <a:pathLst>
              <a:path w="14038646" h="9546279">
                <a:moveTo>
                  <a:pt x="0" y="0"/>
                </a:moveTo>
                <a:lnTo>
                  <a:pt x="14038645" y="0"/>
                </a:lnTo>
                <a:lnTo>
                  <a:pt x="14038645" y="9546279"/>
                </a:lnTo>
                <a:lnTo>
                  <a:pt x="0" y="9546279"/>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04</a:t>
            </a:r>
          </a:p>
        </p:txBody>
      </p:sp>
      <p:sp>
        <p:nvSpPr>
          <p:cNvPr id="14" name="TextBox 14"/>
          <p:cNvSpPr txBox="1"/>
          <p:nvPr/>
        </p:nvSpPr>
        <p:spPr>
          <a:xfrm>
            <a:off x="288299" y="4015986"/>
            <a:ext cx="2750089" cy="12630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1: Steepest-ascend Hill Climbing Search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905753" y="1028700"/>
            <a:ext cx="6206806" cy="6871316"/>
          </a:xfrm>
          <a:custGeom>
            <a:avLst/>
            <a:gdLst/>
            <a:ahLst/>
            <a:cxnLst/>
            <a:rect l="l" t="t" r="r" b="b"/>
            <a:pathLst>
              <a:path w="6206806" h="6871316">
                <a:moveTo>
                  <a:pt x="0" y="0"/>
                </a:moveTo>
                <a:lnTo>
                  <a:pt x="6206806" y="0"/>
                </a:lnTo>
                <a:lnTo>
                  <a:pt x="6206806" y="6871316"/>
                </a:lnTo>
                <a:lnTo>
                  <a:pt x="0" y="6871316"/>
                </a:lnTo>
                <a:lnTo>
                  <a:pt x="0" y="0"/>
                </a:lnTo>
                <a:close/>
              </a:path>
            </a:pathLst>
          </a:custGeom>
          <a:blipFill>
            <a:blip r:embed="rId2"/>
            <a:stretch>
              <a:fillRect/>
            </a:stretch>
          </a:blipFill>
        </p:spPr>
        <p:txBody>
          <a:bodyPr/>
          <a:lstStyle/>
          <a:p>
            <a:endParaRPr lang="en-US"/>
          </a:p>
        </p:txBody>
      </p:sp>
      <p:sp>
        <p:nvSpPr>
          <p:cNvPr id="12" name="Freeform 12"/>
          <p:cNvSpPr/>
          <p:nvPr/>
        </p:nvSpPr>
        <p:spPr>
          <a:xfrm>
            <a:off x="10759091" y="1028700"/>
            <a:ext cx="6206806" cy="7929337"/>
          </a:xfrm>
          <a:custGeom>
            <a:avLst/>
            <a:gdLst/>
            <a:ahLst/>
            <a:cxnLst/>
            <a:rect l="l" t="t" r="r" b="b"/>
            <a:pathLst>
              <a:path w="6206806" h="7929337">
                <a:moveTo>
                  <a:pt x="0" y="0"/>
                </a:moveTo>
                <a:lnTo>
                  <a:pt x="6206806" y="0"/>
                </a:lnTo>
                <a:lnTo>
                  <a:pt x="6206806" y="7929337"/>
                </a:lnTo>
                <a:lnTo>
                  <a:pt x="0" y="7929337"/>
                </a:lnTo>
                <a:lnTo>
                  <a:pt x="0" y="0"/>
                </a:lnTo>
                <a:close/>
              </a:path>
            </a:pathLst>
          </a:custGeom>
          <a:blipFill>
            <a:blip r:embed="rId3"/>
            <a:stretch>
              <a:fillRect/>
            </a:stretch>
          </a:blipFill>
        </p:spPr>
        <p:txBody>
          <a:bodyPr/>
          <a:lstStyle/>
          <a:p>
            <a:endParaRPr lang="en-US"/>
          </a:p>
        </p:txBody>
      </p:sp>
      <p:sp>
        <p:nvSpPr>
          <p:cNvPr id="13" name="TextBox 13"/>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4" name="TextBox 14"/>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05</a:t>
            </a:r>
          </a:p>
        </p:txBody>
      </p:sp>
      <p:sp>
        <p:nvSpPr>
          <p:cNvPr id="15" name="TextBox 15"/>
          <p:cNvSpPr txBox="1"/>
          <p:nvPr/>
        </p:nvSpPr>
        <p:spPr>
          <a:xfrm>
            <a:off x="288299" y="4015986"/>
            <a:ext cx="2750089" cy="12630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1: Steepest-ascend Hill Climbing Search</a:t>
            </a:r>
          </a:p>
        </p:txBody>
      </p:sp>
      <p:sp>
        <p:nvSpPr>
          <p:cNvPr id="16" name="TextBox 16"/>
          <p:cNvSpPr txBox="1"/>
          <p:nvPr/>
        </p:nvSpPr>
        <p:spPr>
          <a:xfrm>
            <a:off x="3905753" y="276835"/>
            <a:ext cx="571517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Khởi tạo 1 board</a:t>
            </a:r>
          </a:p>
        </p:txBody>
      </p:sp>
      <p:sp>
        <p:nvSpPr>
          <p:cNvPr id="17" name="TextBox 17"/>
          <p:cNvSpPr txBox="1"/>
          <p:nvPr/>
        </p:nvSpPr>
        <p:spPr>
          <a:xfrm>
            <a:off x="10759091" y="315838"/>
            <a:ext cx="6500209"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Thực hiện steepest hill climbing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4600"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17959" y="2214455"/>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46125" y="592094"/>
            <a:ext cx="3981709" cy="4096385"/>
          </a:xfrm>
          <a:prstGeom prst="rect">
            <a:avLst/>
          </a:prstGeom>
        </p:spPr>
        <p:txBody>
          <a:bodyPr lIns="0" tIns="0" rIns="0" bIns="0" rtlCol="0" anchor="t">
            <a:spAutoFit/>
          </a:bodyPr>
          <a:lstStyle/>
          <a:p>
            <a:pPr algn="l">
              <a:lnSpc>
                <a:spcPts val="6399"/>
              </a:lnSpc>
            </a:pPr>
            <a:r>
              <a:rPr lang="en-US" sz="6399"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06</a:t>
            </a:r>
          </a:p>
        </p:txBody>
      </p:sp>
      <p:sp>
        <p:nvSpPr>
          <p:cNvPr id="13" name="TextBox 13"/>
          <p:cNvSpPr txBox="1"/>
          <p:nvPr/>
        </p:nvSpPr>
        <p:spPr>
          <a:xfrm>
            <a:off x="5586077" y="601619"/>
            <a:ext cx="11673223" cy="1679575"/>
          </a:xfrm>
          <a:prstGeom prst="rect">
            <a:avLst/>
          </a:prstGeom>
        </p:spPr>
        <p:txBody>
          <a:bodyPr lIns="0" tIns="0" rIns="0" bIns="0" rtlCol="0" anchor="t">
            <a:spAutoFit/>
          </a:bodyPr>
          <a:lstStyle/>
          <a:p>
            <a:pPr algn="l">
              <a:lnSpc>
                <a:spcPts val="6499"/>
              </a:lnSpc>
            </a:pPr>
            <a:r>
              <a:rPr lang="en-US" sz="6499" b="1">
                <a:solidFill>
                  <a:srgbClr val="263744"/>
                </a:solidFill>
                <a:latin typeface="Inter Bold"/>
                <a:ea typeface="Inter Bold"/>
                <a:cs typeface="Inter Bold"/>
                <a:sym typeface="Inter Bold"/>
              </a:rPr>
              <a:t>Task 2: Stochastic Hill Climbing 1</a:t>
            </a:r>
          </a:p>
        </p:txBody>
      </p:sp>
      <p:sp>
        <p:nvSpPr>
          <p:cNvPr id="14" name="TextBox 14"/>
          <p:cNvSpPr txBox="1"/>
          <p:nvPr/>
        </p:nvSpPr>
        <p:spPr>
          <a:xfrm>
            <a:off x="5586077" y="2849285"/>
            <a:ext cx="11634062" cy="1128395"/>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Poppins"/>
                <a:ea typeface="Poppins"/>
                <a:cs typeface="Poppins"/>
                <a:sym typeface="Poppins"/>
              </a:rPr>
              <a:t>Chọn ngẫu nhiên trong số tất cả các nước đi cho đến khi đạt đến điểm tối ưu cục bộ.</a:t>
            </a:r>
          </a:p>
        </p:txBody>
      </p:sp>
      <p:sp>
        <p:nvSpPr>
          <p:cNvPr id="15" name="Freeform 15"/>
          <p:cNvSpPr/>
          <p:nvPr/>
        </p:nvSpPr>
        <p:spPr>
          <a:xfrm>
            <a:off x="14129800" y="6569132"/>
            <a:ext cx="3090340" cy="3090340"/>
          </a:xfrm>
          <a:custGeom>
            <a:avLst/>
            <a:gdLst/>
            <a:ahLst/>
            <a:cxnLst/>
            <a:rect l="l" t="t" r="r" b="b"/>
            <a:pathLst>
              <a:path w="3090340" h="3090340">
                <a:moveTo>
                  <a:pt x="0" y="0"/>
                </a:moveTo>
                <a:lnTo>
                  <a:pt x="3090339" y="0"/>
                </a:lnTo>
                <a:lnTo>
                  <a:pt x="3090339" y="3090340"/>
                </a:lnTo>
                <a:lnTo>
                  <a:pt x="0" y="3090340"/>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582557" y="495044"/>
            <a:ext cx="13850148" cy="9296912"/>
          </a:xfrm>
          <a:custGeom>
            <a:avLst/>
            <a:gdLst/>
            <a:ahLst/>
            <a:cxnLst/>
            <a:rect l="l" t="t" r="r" b="b"/>
            <a:pathLst>
              <a:path w="13850148" h="9296912">
                <a:moveTo>
                  <a:pt x="0" y="0"/>
                </a:moveTo>
                <a:lnTo>
                  <a:pt x="13850149" y="0"/>
                </a:lnTo>
                <a:lnTo>
                  <a:pt x="13850149" y="9296912"/>
                </a:lnTo>
                <a:lnTo>
                  <a:pt x="0" y="9296912"/>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07</a:t>
            </a:r>
          </a:p>
        </p:txBody>
      </p:sp>
      <p:sp>
        <p:nvSpPr>
          <p:cNvPr id="14" name="TextBox 14"/>
          <p:cNvSpPr txBox="1"/>
          <p:nvPr/>
        </p:nvSpPr>
        <p:spPr>
          <a:xfrm>
            <a:off x="288299" y="4015986"/>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2: Stochastic Hill Climbing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905753" y="1028700"/>
            <a:ext cx="6254157" cy="6813588"/>
          </a:xfrm>
          <a:custGeom>
            <a:avLst/>
            <a:gdLst/>
            <a:ahLst/>
            <a:cxnLst/>
            <a:rect l="l" t="t" r="r" b="b"/>
            <a:pathLst>
              <a:path w="6254157" h="6813588">
                <a:moveTo>
                  <a:pt x="0" y="0"/>
                </a:moveTo>
                <a:lnTo>
                  <a:pt x="6254157" y="0"/>
                </a:lnTo>
                <a:lnTo>
                  <a:pt x="6254157" y="6813588"/>
                </a:lnTo>
                <a:lnTo>
                  <a:pt x="0" y="6813588"/>
                </a:lnTo>
                <a:lnTo>
                  <a:pt x="0" y="0"/>
                </a:lnTo>
                <a:close/>
              </a:path>
            </a:pathLst>
          </a:custGeom>
          <a:blipFill>
            <a:blip r:embed="rId2"/>
            <a:stretch>
              <a:fillRect/>
            </a:stretch>
          </a:blipFill>
        </p:spPr>
        <p:txBody>
          <a:bodyPr/>
          <a:lstStyle/>
          <a:p>
            <a:endParaRPr lang="en-US"/>
          </a:p>
        </p:txBody>
      </p:sp>
      <p:sp>
        <p:nvSpPr>
          <p:cNvPr id="12" name="Freeform 12"/>
          <p:cNvSpPr/>
          <p:nvPr/>
        </p:nvSpPr>
        <p:spPr>
          <a:xfrm>
            <a:off x="10759091" y="1028700"/>
            <a:ext cx="6254157" cy="7863997"/>
          </a:xfrm>
          <a:custGeom>
            <a:avLst/>
            <a:gdLst/>
            <a:ahLst/>
            <a:cxnLst/>
            <a:rect l="l" t="t" r="r" b="b"/>
            <a:pathLst>
              <a:path w="6254157" h="7863997">
                <a:moveTo>
                  <a:pt x="0" y="0"/>
                </a:moveTo>
                <a:lnTo>
                  <a:pt x="6254157" y="0"/>
                </a:lnTo>
                <a:lnTo>
                  <a:pt x="6254157" y="7863997"/>
                </a:lnTo>
                <a:lnTo>
                  <a:pt x="0" y="7863997"/>
                </a:lnTo>
                <a:lnTo>
                  <a:pt x="0" y="0"/>
                </a:lnTo>
                <a:close/>
              </a:path>
            </a:pathLst>
          </a:custGeom>
          <a:blipFill>
            <a:blip r:embed="rId3"/>
            <a:stretch>
              <a:fillRect/>
            </a:stretch>
          </a:blipFill>
        </p:spPr>
        <p:txBody>
          <a:bodyPr/>
          <a:lstStyle/>
          <a:p>
            <a:endParaRPr lang="en-US"/>
          </a:p>
        </p:txBody>
      </p:sp>
      <p:sp>
        <p:nvSpPr>
          <p:cNvPr id="13" name="TextBox 13"/>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4" name="TextBox 14"/>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08</a:t>
            </a:r>
          </a:p>
        </p:txBody>
      </p:sp>
      <p:sp>
        <p:nvSpPr>
          <p:cNvPr id="15" name="TextBox 15"/>
          <p:cNvSpPr txBox="1"/>
          <p:nvPr/>
        </p:nvSpPr>
        <p:spPr>
          <a:xfrm>
            <a:off x="288299" y="4015986"/>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2: Stochastic Hill Climbing 1</a:t>
            </a:r>
          </a:p>
        </p:txBody>
      </p:sp>
      <p:sp>
        <p:nvSpPr>
          <p:cNvPr id="16" name="TextBox 16"/>
          <p:cNvSpPr txBox="1"/>
          <p:nvPr/>
        </p:nvSpPr>
        <p:spPr>
          <a:xfrm>
            <a:off x="3905753" y="276835"/>
            <a:ext cx="571517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Khởi tạo 1 board</a:t>
            </a:r>
          </a:p>
        </p:txBody>
      </p:sp>
      <p:sp>
        <p:nvSpPr>
          <p:cNvPr id="17" name="TextBox 17"/>
          <p:cNvSpPr txBox="1"/>
          <p:nvPr/>
        </p:nvSpPr>
        <p:spPr>
          <a:xfrm>
            <a:off x="10759091" y="315838"/>
            <a:ext cx="6784141"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Thực hiện stochastic hill climbing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4600"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17959" y="2214455"/>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46125" y="592094"/>
            <a:ext cx="3981709" cy="4096385"/>
          </a:xfrm>
          <a:prstGeom prst="rect">
            <a:avLst/>
          </a:prstGeom>
        </p:spPr>
        <p:txBody>
          <a:bodyPr lIns="0" tIns="0" rIns="0" bIns="0" rtlCol="0" anchor="t">
            <a:spAutoFit/>
          </a:bodyPr>
          <a:lstStyle/>
          <a:p>
            <a:pPr algn="l">
              <a:lnSpc>
                <a:spcPts val="6399"/>
              </a:lnSpc>
            </a:pPr>
            <a:r>
              <a:rPr lang="en-US" sz="6399"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09</a:t>
            </a:r>
          </a:p>
        </p:txBody>
      </p:sp>
      <p:sp>
        <p:nvSpPr>
          <p:cNvPr id="13" name="TextBox 13"/>
          <p:cNvSpPr txBox="1"/>
          <p:nvPr/>
        </p:nvSpPr>
        <p:spPr>
          <a:xfrm>
            <a:off x="5586077" y="601619"/>
            <a:ext cx="11673223" cy="1679575"/>
          </a:xfrm>
          <a:prstGeom prst="rect">
            <a:avLst/>
          </a:prstGeom>
        </p:spPr>
        <p:txBody>
          <a:bodyPr lIns="0" tIns="0" rIns="0" bIns="0" rtlCol="0" anchor="t">
            <a:spAutoFit/>
          </a:bodyPr>
          <a:lstStyle/>
          <a:p>
            <a:pPr algn="l">
              <a:lnSpc>
                <a:spcPts val="6499"/>
              </a:lnSpc>
            </a:pPr>
            <a:r>
              <a:rPr lang="en-US" sz="6499" b="1">
                <a:solidFill>
                  <a:srgbClr val="263744"/>
                </a:solidFill>
                <a:latin typeface="Inter Bold"/>
                <a:ea typeface="Inter Bold"/>
                <a:cs typeface="Inter Bold"/>
                <a:sym typeface="Inter Bold"/>
              </a:rPr>
              <a:t>Task 3: Stochastic Hill Climbing 2</a:t>
            </a:r>
          </a:p>
        </p:txBody>
      </p:sp>
      <p:sp>
        <p:nvSpPr>
          <p:cNvPr id="14" name="TextBox 14"/>
          <p:cNvSpPr txBox="1"/>
          <p:nvPr/>
        </p:nvSpPr>
        <p:spPr>
          <a:xfrm>
            <a:off x="5586077" y="2849285"/>
            <a:ext cx="11634062" cy="3376295"/>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Poppins"/>
                <a:ea typeface="Poppins"/>
                <a:cs typeface="Poppins"/>
                <a:sym typeface="Poppins"/>
              </a:rPr>
              <a:t>Một phiên bản phổ biến của thuật toán Hill Climbing là chỉ tạo ra một lân cận cục bộ ngẫu nhiên duy nhất tại một thời điểm và chấp nhận lân cận đó nếu nó có giá trị hàm mục tiêu tốt hơn trạng thái hiện tại.</a:t>
            </a:r>
          </a:p>
          <a:p>
            <a:pPr marL="690881" lvl="1" indent="-345440" algn="l">
              <a:lnSpc>
                <a:spcPts val="4480"/>
              </a:lnSpc>
              <a:buFont typeface="Arial"/>
              <a:buChar char="•"/>
            </a:pPr>
            <a:r>
              <a:rPr lang="en-US" sz="3200">
                <a:solidFill>
                  <a:srgbClr val="000000"/>
                </a:solidFill>
                <a:latin typeface="Poppins"/>
                <a:ea typeface="Poppins"/>
                <a:cs typeface="Poppins"/>
                <a:sym typeface="Poppins"/>
              </a:rPr>
              <a:t>Phương pháp này được gọi là "First-choice hill climbing"</a:t>
            </a:r>
          </a:p>
        </p:txBody>
      </p:sp>
      <p:sp>
        <p:nvSpPr>
          <p:cNvPr id="15" name="Freeform 15"/>
          <p:cNvSpPr/>
          <p:nvPr/>
        </p:nvSpPr>
        <p:spPr>
          <a:xfrm>
            <a:off x="14129800" y="6569132"/>
            <a:ext cx="3090340" cy="3090340"/>
          </a:xfrm>
          <a:custGeom>
            <a:avLst/>
            <a:gdLst/>
            <a:ahLst/>
            <a:cxnLst/>
            <a:rect l="l" t="t" r="r" b="b"/>
            <a:pathLst>
              <a:path w="3090340" h="3090340">
                <a:moveTo>
                  <a:pt x="0" y="0"/>
                </a:moveTo>
                <a:lnTo>
                  <a:pt x="3090339" y="0"/>
                </a:lnTo>
                <a:lnTo>
                  <a:pt x="3090339" y="3090340"/>
                </a:lnTo>
                <a:lnTo>
                  <a:pt x="0" y="3090340"/>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591178" y="181280"/>
            <a:ext cx="13832907" cy="9924440"/>
          </a:xfrm>
          <a:custGeom>
            <a:avLst/>
            <a:gdLst/>
            <a:ahLst/>
            <a:cxnLst/>
            <a:rect l="l" t="t" r="r" b="b"/>
            <a:pathLst>
              <a:path w="13832907" h="9924440">
                <a:moveTo>
                  <a:pt x="0" y="0"/>
                </a:moveTo>
                <a:lnTo>
                  <a:pt x="13832907" y="0"/>
                </a:lnTo>
                <a:lnTo>
                  <a:pt x="13832907" y="9924440"/>
                </a:lnTo>
                <a:lnTo>
                  <a:pt x="0" y="9924440"/>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10</a:t>
            </a:r>
          </a:p>
        </p:txBody>
      </p:sp>
      <p:sp>
        <p:nvSpPr>
          <p:cNvPr id="14" name="TextBox 14"/>
          <p:cNvSpPr txBox="1"/>
          <p:nvPr/>
        </p:nvSpPr>
        <p:spPr>
          <a:xfrm>
            <a:off x="288299" y="4015986"/>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3: Stochastic Hill Climbing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905753" y="1028700"/>
            <a:ext cx="6143268" cy="6860217"/>
          </a:xfrm>
          <a:custGeom>
            <a:avLst/>
            <a:gdLst/>
            <a:ahLst/>
            <a:cxnLst/>
            <a:rect l="l" t="t" r="r" b="b"/>
            <a:pathLst>
              <a:path w="6143268" h="6860217">
                <a:moveTo>
                  <a:pt x="0" y="0"/>
                </a:moveTo>
                <a:lnTo>
                  <a:pt x="6143268" y="0"/>
                </a:lnTo>
                <a:lnTo>
                  <a:pt x="6143268" y="6860217"/>
                </a:lnTo>
                <a:lnTo>
                  <a:pt x="0" y="6860217"/>
                </a:lnTo>
                <a:lnTo>
                  <a:pt x="0" y="0"/>
                </a:lnTo>
                <a:close/>
              </a:path>
            </a:pathLst>
          </a:custGeom>
          <a:blipFill>
            <a:blip r:embed="rId2"/>
            <a:stretch>
              <a:fillRect/>
            </a:stretch>
          </a:blipFill>
        </p:spPr>
        <p:txBody>
          <a:bodyPr/>
          <a:lstStyle/>
          <a:p>
            <a:endParaRPr lang="en-US"/>
          </a:p>
        </p:txBody>
      </p:sp>
      <p:sp>
        <p:nvSpPr>
          <p:cNvPr id="12" name="Freeform 12"/>
          <p:cNvSpPr/>
          <p:nvPr/>
        </p:nvSpPr>
        <p:spPr>
          <a:xfrm>
            <a:off x="10759091" y="1028700"/>
            <a:ext cx="6143268" cy="7745860"/>
          </a:xfrm>
          <a:custGeom>
            <a:avLst/>
            <a:gdLst/>
            <a:ahLst/>
            <a:cxnLst/>
            <a:rect l="l" t="t" r="r" b="b"/>
            <a:pathLst>
              <a:path w="6143268" h="7745860">
                <a:moveTo>
                  <a:pt x="0" y="0"/>
                </a:moveTo>
                <a:lnTo>
                  <a:pt x="6143268" y="0"/>
                </a:lnTo>
                <a:lnTo>
                  <a:pt x="6143268" y="7745860"/>
                </a:lnTo>
                <a:lnTo>
                  <a:pt x="0" y="7745860"/>
                </a:lnTo>
                <a:lnTo>
                  <a:pt x="0" y="0"/>
                </a:lnTo>
                <a:close/>
              </a:path>
            </a:pathLst>
          </a:custGeom>
          <a:blipFill>
            <a:blip r:embed="rId3"/>
            <a:stretch>
              <a:fillRect/>
            </a:stretch>
          </a:blipFill>
        </p:spPr>
        <p:txBody>
          <a:bodyPr/>
          <a:lstStyle/>
          <a:p>
            <a:endParaRPr lang="en-US"/>
          </a:p>
        </p:txBody>
      </p:sp>
      <p:sp>
        <p:nvSpPr>
          <p:cNvPr id="13" name="TextBox 13"/>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4" name="TextBox 14"/>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11</a:t>
            </a:r>
          </a:p>
        </p:txBody>
      </p:sp>
      <p:sp>
        <p:nvSpPr>
          <p:cNvPr id="15" name="TextBox 15"/>
          <p:cNvSpPr txBox="1"/>
          <p:nvPr/>
        </p:nvSpPr>
        <p:spPr>
          <a:xfrm>
            <a:off x="288299" y="4015986"/>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3: Stochastic Hill Climbing 2</a:t>
            </a:r>
          </a:p>
        </p:txBody>
      </p:sp>
      <p:sp>
        <p:nvSpPr>
          <p:cNvPr id="16" name="TextBox 16"/>
          <p:cNvSpPr txBox="1"/>
          <p:nvPr/>
        </p:nvSpPr>
        <p:spPr>
          <a:xfrm>
            <a:off x="3905753" y="276835"/>
            <a:ext cx="571517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Khởi tạo 1 board</a:t>
            </a:r>
          </a:p>
        </p:txBody>
      </p:sp>
      <p:sp>
        <p:nvSpPr>
          <p:cNvPr id="17" name="TextBox 17"/>
          <p:cNvSpPr txBox="1"/>
          <p:nvPr/>
        </p:nvSpPr>
        <p:spPr>
          <a:xfrm>
            <a:off x="10759091" y="315838"/>
            <a:ext cx="6784141"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Thực hiện stochastic hill climbing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4600"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17959" y="2214455"/>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46125" y="592094"/>
            <a:ext cx="3981709" cy="4096385"/>
          </a:xfrm>
          <a:prstGeom prst="rect">
            <a:avLst/>
          </a:prstGeom>
        </p:spPr>
        <p:txBody>
          <a:bodyPr lIns="0" tIns="0" rIns="0" bIns="0" rtlCol="0" anchor="t">
            <a:spAutoFit/>
          </a:bodyPr>
          <a:lstStyle/>
          <a:p>
            <a:pPr algn="l">
              <a:lnSpc>
                <a:spcPts val="6399"/>
              </a:lnSpc>
            </a:pPr>
            <a:r>
              <a:rPr lang="en-US" sz="6399"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12</a:t>
            </a:r>
          </a:p>
        </p:txBody>
      </p:sp>
      <p:sp>
        <p:nvSpPr>
          <p:cNvPr id="13" name="TextBox 13"/>
          <p:cNvSpPr txBox="1"/>
          <p:nvPr/>
        </p:nvSpPr>
        <p:spPr>
          <a:xfrm>
            <a:off x="5586077" y="601619"/>
            <a:ext cx="11673223" cy="1679575"/>
          </a:xfrm>
          <a:prstGeom prst="rect">
            <a:avLst/>
          </a:prstGeom>
        </p:spPr>
        <p:txBody>
          <a:bodyPr lIns="0" tIns="0" rIns="0" bIns="0" rtlCol="0" anchor="t">
            <a:spAutoFit/>
          </a:bodyPr>
          <a:lstStyle/>
          <a:p>
            <a:pPr algn="l">
              <a:lnSpc>
                <a:spcPts val="6499"/>
              </a:lnSpc>
            </a:pPr>
            <a:r>
              <a:rPr lang="en-US" sz="6499" b="1">
                <a:solidFill>
                  <a:srgbClr val="263744"/>
                </a:solidFill>
                <a:latin typeface="Inter Bold"/>
                <a:ea typeface="Inter Bold"/>
                <a:cs typeface="Inter Bold"/>
                <a:sym typeface="Inter Bold"/>
              </a:rPr>
              <a:t>Task 4: Hill Climbing Search with Random Restarts</a:t>
            </a:r>
          </a:p>
        </p:txBody>
      </p:sp>
      <p:sp>
        <p:nvSpPr>
          <p:cNvPr id="14" name="TextBox 14"/>
          <p:cNvSpPr txBox="1"/>
          <p:nvPr/>
        </p:nvSpPr>
        <p:spPr>
          <a:xfrm>
            <a:off x="5586077" y="2849285"/>
            <a:ext cx="11634062" cy="3376295"/>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Poppins"/>
                <a:ea typeface="Poppins"/>
                <a:cs typeface="Poppins"/>
                <a:sym typeface="Poppins"/>
              </a:rPr>
              <a:t>Hill Climbing thường sẽ kết thúc ở trạng thái tối ưu cục bộ. Khởi động lại mỗi thuật toán Hill Climbing tối đa 100 lần với một bảng ngẫu nhiên để tìm ra giải pháp tốt hơn.</a:t>
            </a:r>
          </a:p>
          <a:p>
            <a:pPr marL="690881" lvl="1" indent="-345440" algn="l">
              <a:lnSpc>
                <a:spcPts val="4480"/>
              </a:lnSpc>
              <a:buFont typeface="Arial"/>
              <a:buChar char="•"/>
            </a:pPr>
            <a:r>
              <a:rPr lang="en-US" sz="3200">
                <a:solidFill>
                  <a:srgbClr val="000000"/>
                </a:solidFill>
                <a:latin typeface="Poppins"/>
                <a:ea typeface="Poppins"/>
                <a:cs typeface="Poppins"/>
                <a:sym typeface="Poppins"/>
              </a:rPr>
              <a:t>Lưu ý rằng khởi động lại chỉ có nghĩa là chạy thuật toán nhiều lần, bắt đầu với một bảng ngẫu nhiên mới.</a:t>
            </a:r>
          </a:p>
        </p:txBody>
      </p:sp>
      <p:sp>
        <p:nvSpPr>
          <p:cNvPr id="15" name="Freeform 15"/>
          <p:cNvSpPr/>
          <p:nvPr/>
        </p:nvSpPr>
        <p:spPr>
          <a:xfrm>
            <a:off x="14129800" y="6569132"/>
            <a:ext cx="3090340" cy="3090340"/>
          </a:xfrm>
          <a:custGeom>
            <a:avLst/>
            <a:gdLst/>
            <a:ahLst/>
            <a:cxnLst/>
            <a:rect l="l" t="t" r="r" b="b"/>
            <a:pathLst>
              <a:path w="3090340" h="3090340">
                <a:moveTo>
                  <a:pt x="0" y="0"/>
                </a:moveTo>
                <a:lnTo>
                  <a:pt x="3090339" y="0"/>
                </a:lnTo>
                <a:lnTo>
                  <a:pt x="3090339" y="3090340"/>
                </a:lnTo>
                <a:lnTo>
                  <a:pt x="0" y="3090340"/>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13</a:t>
            </a:r>
          </a:p>
        </p:txBody>
      </p:sp>
      <p:sp>
        <p:nvSpPr>
          <p:cNvPr id="13" name="TextBox 13"/>
          <p:cNvSpPr txBox="1"/>
          <p:nvPr/>
        </p:nvSpPr>
        <p:spPr>
          <a:xfrm>
            <a:off x="288299" y="4015986"/>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4: Hill Climbing Search with Random Restarts</a:t>
            </a:r>
          </a:p>
        </p:txBody>
      </p:sp>
      <p:sp>
        <p:nvSpPr>
          <p:cNvPr id="14" name="Freeform 14"/>
          <p:cNvSpPr/>
          <p:nvPr/>
        </p:nvSpPr>
        <p:spPr>
          <a:xfrm>
            <a:off x="3516910" y="362560"/>
            <a:ext cx="13981443" cy="8458773"/>
          </a:xfrm>
          <a:custGeom>
            <a:avLst/>
            <a:gdLst/>
            <a:ahLst/>
            <a:cxnLst/>
            <a:rect l="l" t="t" r="r" b="b"/>
            <a:pathLst>
              <a:path w="13981443" h="8458773">
                <a:moveTo>
                  <a:pt x="0" y="0"/>
                </a:moveTo>
                <a:lnTo>
                  <a:pt x="13981443" y="0"/>
                </a:lnTo>
                <a:lnTo>
                  <a:pt x="13981443" y="8458773"/>
                </a:lnTo>
                <a:lnTo>
                  <a:pt x="0" y="8458773"/>
                </a:lnTo>
                <a:lnTo>
                  <a:pt x="0" y="0"/>
                </a:lnTo>
                <a:close/>
              </a:path>
            </a:pathLst>
          </a:custGeom>
          <a:blipFill>
            <a:blip r:embed="rId2"/>
            <a:stretch>
              <a:fillRect/>
            </a:stretch>
          </a:blipFill>
        </p:spPr>
        <p:txBody>
          <a:bodyPr/>
          <a:lstStyle/>
          <a:p>
            <a:endParaRPr lang="en-US"/>
          </a:p>
        </p:txBody>
      </p:sp>
      <p:sp>
        <p:nvSpPr>
          <p:cNvPr id="15" name="Freeform 15"/>
          <p:cNvSpPr/>
          <p:nvPr/>
        </p:nvSpPr>
        <p:spPr>
          <a:xfrm>
            <a:off x="16937220" y="8945745"/>
            <a:ext cx="1212022" cy="1212022"/>
          </a:xfrm>
          <a:custGeom>
            <a:avLst/>
            <a:gdLst/>
            <a:ahLst/>
            <a:cxnLst/>
            <a:rect l="l" t="t" r="r" b="b"/>
            <a:pathLst>
              <a:path w="1212022" h="1212022">
                <a:moveTo>
                  <a:pt x="0" y="0"/>
                </a:moveTo>
                <a:lnTo>
                  <a:pt x="1212023" y="0"/>
                </a:lnTo>
                <a:lnTo>
                  <a:pt x="1212023" y="1212023"/>
                </a:lnTo>
                <a:lnTo>
                  <a:pt x="0" y="1212023"/>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905753" y="1028700"/>
            <a:ext cx="6073512" cy="8516879"/>
          </a:xfrm>
          <a:custGeom>
            <a:avLst/>
            <a:gdLst/>
            <a:ahLst/>
            <a:cxnLst/>
            <a:rect l="l" t="t" r="r" b="b"/>
            <a:pathLst>
              <a:path w="6073512" h="8516879">
                <a:moveTo>
                  <a:pt x="0" y="0"/>
                </a:moveTo>
                <a:lnTo>
                  <a:pt x="6073512" y="0"/>
                </a:lnTo>
                <a:lnTo>
                  <a:pt x="6073512" y="8516879"/>
                </a:lnTo>
                <a:lnTo>
                  <a:pt x="0" y="8516879"/>
                </a:lnTo>
                <a:lnTo>
                  <a:pt x="0" y="0"/>
                </a:lnTo>
                <a:close/>
              </a:path>
            </a:pathLst>
          </a:custGeom>
          <a:blipFill>
            <a:blip r:embed="rId2"/>
            <a:stretch>
              <a:fillRect/>
            </a:stretch>
          </a:blipFill>
        </p:spPr>
        <p:txBody>
          <a:bodyPr/>
          <a:lstStyle/>
          <a:p>
            <a:endParaRPr lang="en-US"/>
          </a:p>
        </p:txBody>
      </p:sp>
      <p:sp>
        <p:nvSpPr>
          <p:cNvPr id="12" name="Freeform 12"/>
          <p:cNvSpPr/>
          <p:nvPr/>
        </p:nvSpPr>
        <p:spPr>
          <a:xfrm>
            <a:off x="10759091" y="1028700"/>
            <a:ext cx="6073512" cy="7457708"/>
          </a:xfrm>
          <a:custGeom>
            <a:avLst/>
            <a:gdLst/>
            <a:ahLst/>
            <a:cxnLst/>
            <a:rect l="l" t="t" r="r" b="b"/>
            <a:pathLst>
              <a:path w="6073512" h="7457708">
                <a:moveTo>
                  <a:pt x="0" y="0"/>
                </a:moveTo>
                <a:lnTo>
                  <a:pt x="6073512" y="0"/>
                </a:lnTo>
                <a:lnTo>
                  <a:pt x="6073512" y="7457708"/>
                </a:lnTo>
                <a:lnTo>
                  <a:pt x="0" y="7457708"/>
                </a:lnTo>
                <a:lnTo>
                  <a:pt x="0" y="0"/>
                </a:lnTo>
                <a:close/>
              </a:path>
            </a:pathLst>
          </a:custGeom>
          <a:blipFill>
            <a:blip r:embed="rId3"/>
            <a:stretch>
              <a:fillRect/>
            </a:stretch>
          </a:blipFill>
        </p:spPr>
        <p:txBody>
          <a:bodyPr/>
          <a:lstStyle/>
          <a:p>
            <a:endParaRPr lang="en-US"/>
          </a:p>
        </p:txBody>
      </p:sp>
      <p:sp>
        <p:nvSpPr>
          <p:cNvPr id="13" name="TextBox 13"/>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4" name="TextBox 14"/>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14</a:t>
            </a:r>
          </a:p>
        </p:txBody>
      </p:sp>
      <p:sp>
        <p:nvSpPr>
          <p:cNvPr id="15" name="TextBox 15"/>
          <p:cNvSpPr txBox="1"/>
          <p:nvPr/>
        </p:nvSpPr>
        <p:spPr>
          <a:xfrm>
            <a:off x="288299" y="4015986"/>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4: Hill Climbing Search with Random Restarts</a:t>
            </a:r>
          </a:p>
        </p:txBody>
      </p:sp>
      <p:sp>
        <p:nvSpPr>
          <p:cNvPr id="16" name="TextBox 16"/>
          <p:cNvSpPr txBox="1"/>
          <p:nvPr/>
        </p:nvSpPr>
        <p:spPr>
          <a:xfrm>
            <a:off x="3905753" y="276835"/>
            <a:ext cx="571517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Khởi tạo 1 board</a:t>
            </a:r>
          </a:p>
        </p:txBody>
      </p:sp>
      <p:sp>
        <p:nvSpPr>
          <p:cNvPr id="17" name="TextBox 17"/>
          <p:cNvSpPr txBox="1"/>
          <p:nvPr/>
        </p:nvSpPr>
        <p:spPr>
          <a:xfrm>
            <a:off x="10759091" y="315838"/>
            <a:ext cx="6784141"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Thực hiện Random Restarts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4600"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17959" y="2214455"/>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46125" y="592094"/>
            <a:ext cx="3981709" cy="4096385"/>
          </a:xfrm>
          <a:prstGeom prst="rect">
            <a:avLst/>
          </a:prstGeom>
        </p:spPr>
        <p:txBody>
          <a:bodyPr lIns="0" tIns="0" rIns="0" bIns="0" rtlCol="0" anchor="t">
            <a:spAutoFit/>
          </a:bodyPr>
          <a:lstStyle/>
          <a:p>
            <a:pPr algn="l">
              <a:lnSpc>
                <a:spcPts val="6399"/>
              </a:lnSpc>
            </a:pPr>
            <a:r>
              <a:rPr lang="en-US" sz="6399"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15</a:t>
            </a:r>
          </a:p>
        </p:txBody>
      </p:sp>
      <p:sp>
        <p:nvSpPr>
          <p:cNvPr id="13" name="TextBox 13"/>
          <p:cNvSpPr txBox="1"/>
          <p:nvPr/>
        </p:nvSpPr>
        <p:spPr>
          <a:xfrm>
            <a:off x="5586077" y="601619"/>
            <a:ext cx="11673223" cy="860425"/>
          </a:xfrm>
          <a:prstGeom prst="rect">
            <a:avLst/>
          </a:prstGeom>
        </p:spPr>
        <p:txBody>
          <a:bodyPr lIns="0" tIns="0" rIns="0" bIns="0" rtlCol="0" anchor="t">
            <a:spAutoFit/>
          </a:bodyPr>
          <a:lstStyle/>
          <a:p>
            <a:pPr algn="l">
              <a:lnSpc>
                <a:spcPts val="6499"/>
              </a:lnSpc>
            </a:pPr>
            <a:r>
              <a:rPr lang="en-US" sz="6499" b="1">
                <a:solidFill>
                  <a:srgbClr val="263744"/>
                </a:solidFill>
                <a:latin typeface="Inter Bold"/>
                <a:ea typeface="Inter Bold"/>
                <a:cs typeface="Inter Bold"/>
                <a:sym typeface="Inter Bold"/>
              </a:rPr>
              <a:t>Task 5: Simulated Annealing</a:t>
            </a:r>
          </a:p>
        </p:txBody>
      </p:sp>
      <p:sp>
        <p:nvSpPr>
          <p:cNvPr id="14" name="TextBox 14"/>
          <p:cNvSpPr txBox="1"/>
          <p:nvPr/>
        </p:nvSpPr>
        <p:spPr>
          <a:xfrm>
            <a:off x="5586077" y="2128730"/>
            <a:ext cx="11634062" cy="281432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Poppins"/>
                <a:ea typeface="Poppins"/>
                <a:cs typeface="Poppins"/>
                <a:sym typeface="Poppins"/>
              </a:rPr>
              <a:t>Simulated Annealing là một dạng Hill Climbing ngẫu nhiên, tránh tối ưu cục bộ bằng cách cho phép di chuyển xuống dốc (downhill) với xác suất tỷ lệ thuận với nhiệt độ. Nhiệt độ giảm dần trong mỗi lần lặp theo một lịch trình annealing.</a:t>
            </a:r>
          </a:p>
        </p:txBody>
      </p:sp>
      <p:sp>
        <p:nvSpPr>
          <p:cNvPr id="15" name="Freeform 15"/>
          <p:cNvSpPr/>
          <p:nvPr/>
        </p:nvSpPr>
        <p:spPr>
          <a:xfrm>
            <a:off x="14129800" y="6569132"/>
            <a:ext cx="3090340" cy="3090340"/>
          </a:xfrm>
          <a:custGeom>
            <a:avLst/>
            <a:gdLst/>
            <a:ahLst/>
            <a:cxnLst/>
            <a:rect l="l" t="t" r="r" b="b"/>
            <a:pathLst>
              <a:path w="3090340" h="3090340">
                <a:moveTo>
                  <a:pt x="0" y="0"/>
                </a:moveTo>
                <a:lnTo>
                  <a:pt x="3090339" y="0"/>
                </a:lnTo>
                <a:lnTo>
                  <a:pt x="3090339" y="3090340"/>
                </a:lnTo>
                <a:lnTo>
                  <a:pt x="0" y="3090340"/>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573308" y="313414"/>
            <a:ext cx="12863966" cy="9660172"/>
          </a:xfrm>
          <a:custGeom>
            <a:avLst/>
            <a:gdLst/>
            <a:ahLst/>
            <a:cxnLst/>
            <a:rect l="l" t="t" r="r" b="b"/>
            <a:pathLst>
              <a:path w="12863966" h="9660172">
                <a:moveTo>
                  <a:pt x="0" y="0"/>
                </a:moveTo>
                <a:lnTo>
                  <a:pt x="12863966" y="0"/>
                </a:lnTo>
                <a:lnTo>
                  <a:pt x="12863966" y="9660172"/>
                </a:lnTo>
                <a:lnTo>
                  <a:pt x="0" y="9660172"/>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16</a:t>
            </a:r>
          </a:p>
        </p:txBody>
      </p:sp>
      <p:sp>
        <p:nvSpPr>
          <p:cNvPr id="14" name="TextBox 14"/>
          <p:cNvSpPr txBox="1"/>
          <p:nvPr/>
        </p:nvSpPr>
        <p:spPr>
          <a:xfrm>
            <a:off x="288299" y="4015986"/>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5: Simulated Annealing</a:t>
            </a:r>
          </a:p>
        </p:txBody>
      </p:sp>
      <p:sp>
        <p:nvSpPr>
          <p:cNvPr id="15" name="Freeform 15"/>
          <p:cNvSpPr/>
          <p:nvPr/>
        </p:nvSpPr>
        <p:spPr>
          <a:xfrm>
            <a:off x="16780174" y="8761563"/>
            <a:ext cx="1212022" cy="1212022"/>
          </a:xfrm>
          <a:custGeom>
            <a:avLst/>
            <a:gdLst/>
            <a:ahLst/>
            <a:cxnLst/>
            <a:rect l="l" t="t" r="r" b="b"/>
            <a:pathLst>
              <a:path w="1212022" h="1212022">
                <a:moveTo>
                  <a:pt x="0" y="0"/>
                </a:moveTo>
                <a:lnTo>
                  <a:pt x="1212022" y="0"/>
                </a:lnTo>
                <a:lnTo>
                  <a:pt x="1212022" y="1212023"/>
                </a:lnTo>
                <a:lnTo>
                  <a:pt x="0" y="1212023"/>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905753" y="1028700"/>
            <a:ext cx="5951400" cy="6492436"/>
          </a:xfrm>
          <a:custGeom>
            <a:avLst/>
            <a:gdLst/>
            <a:ahLst/>
            <a:cxnLst/>
            <a:rect l="l" t="t" r="r" b="b"/>
            <a:pathLst>
              <a:path w="5951400" h="6492436">
                <a:moveTo>
                  <a:pt x="0" y="0"/>
                </a:moveTo>
                <a:lnTo>
                  <a:pt x="5951399" y="0"/>
                </a:lnTo>
                <a:lnTo>
                  <a:pt x="5951399" y="6492436"/>
                </a:lnTo>
                <a:lnTo>
                  <a:pt x="0" y="6492436"/>
                </a:lnTo>
                <a:lnTo>
                  <a:pt x="0" y="0"/>
                </a:lnTo>
                <a:close/>
              </a:path>
            </a:pathLst>
          </a:custGeom>
          <a:blipFill>
            <a:blip r:embed="rId2"/>
            <a:stretch>
              <a:fillRect/>
            </a:stretch>
          </a:blipFill>
        </p:spPr>
        <p:txBody>
          <a:bodyPr/>
          <a:lstStyle/>
          <a:p>
            <a:endParaRPr lang="en-US"/>
          </a:p>
        </p:txBody>
      </p:sp>
      <p:sp>
        <p:nvSpPr>
          <p:cNvPr id="12" name="Freeform 12"/>
          <p:cNvSpPr/>
          <p:nvPr/>
        </p:nvSpPr>
        <p:spPr>
          <a:xfrm>
            <a:off x="10759091" y="1028700"/>
            <a:ext cx="5951400" cy="7446043"/>
          </a:xfrm>
          <a:custGeom>
            <a:avLst/>
            <a:gdLst/>
            <a:ahLst/>
            <a:cxnLst/>
            <a:rect l="l" t="t" r="r" b="b"/>
            <a:pathLst>
              <a:path w="5951400" h="7446043">
                <a:moveTo>
                  <a:pt x="0" y="0"/>
                </a:moveTo>
                <a:lnTo>
                  <a:pt x="5951399" y="0"/>
                </a:lnTo>
                <a:lnTo>
                  <a:pt x="5951399" y="7446043"/>
                </a:lnTo>
                <a:lnTo>
                  <a:pt x="0" y="7446043"/>
                </a:lnTo>
                <a:lnTo>
                  <a:pt x="0" y="0"/>
                </a:lnTo>
                <a:close/>
              </a:path>
            </a:pathLst>
          </a:custGeom>
          <a:blipFill>
            <a:blip r:embed="rId3"/>
            <a:stretch>
              <a:fillRect/>
            </a:stretch>
          </a:blipFill>
        </p:spPr>
        <p:txBody>
          <a:bodyPr/>
          <a:lstStyle/>
          <a:p>
            <a:endParaRPr lang="en-US"/>
          </a:p>
        </p:txBody>
      </p:sp>
      <p:sp>
        <p:nvSpPr>
          <p:cNvPr id="13" name="TextBox 13"/>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4" name="TextBox 14"/>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17</a:t>
            </a:r>
          </a:p>
        </p:txBody>
      </p:sp>
      <p:sp>
        <p:nvSpPr>
          <p:cNvPr id="15" name="TextBox 15"/>
          <p:cNvSpPr txBox="1"/>
          <p:nvPr/>
        </p:nvSpPr>
        <p:spPr>
          <a:xfrm>
            <a:off x="288299" y="4015986"/>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5: Simulated Annealing</a:t>
            </a:r>
          </a:p>
        </p:txBody>
      </p:sp>
      <p:sp>
        <p:nvSpPr>
          <p:cNvPr id="16" name="TextBox 16"/>
          <p:cNvSpPr txBox="1"/>
          <p:nvPr/>
        </p:nvSpPr>
        <p:spPr>
          <a:xfrm>
            <a:off x="3905753" y="276835"/>
            <a:ext cx="571517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Khởi tạo 1 board</a:t>
            </a:r>
          </a:p>
        </p:txBody>
      </p:sp>
      <p:sp>
        <p:nvSpPr>
          <p:cNvPr id="17" name="TextBox 17"/>
          <p:cNvSpPr txBox="1"/>
          <p:nvPr/>
        </p:nvSpPr>
        <p:spPr>
          <a:xfrm>
            <a:off x="10759091" y="315838"/>
            <a:ext cx="6784141"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Thực hiện simulated annealing</a:t>
            </a:r>
          </a:p>
        </p:txBody>
      </p:sp>
      <p:sp>
        <p:nvSpPr>
          <p:cNvPr id="18" name="TextBox 18"/>
          <p:cNvSpPr txBox="1"/>
          <p:nvPr/>
        </p:nvSpPr>
        <p:spPr>
          <a:xfrm>
            <a:off x="3905753" y="8735993"/>
            <a:ext cx="13353547" cy="1172845"/>
          </a:xfrm>
          <a:prstGeom prst="rect">
            <a:avLst/>
          </a:prstGeom>
        </p:spPr>
        <p:txBody>
          <a:bodyPr lIns="0" tIns="0" rIns="0" bIns="0" rtlCol="0" anchor="t">
            <a:spAutoFit/>
          </a:bodyPr>
          <a:lstStyle/>
          <a:p>
            <a:pPr algn="l">
              <a:lnSpc>
                <a:spcPts val="3079"/>
              </a:lnSpc>
            </a:pPr>
            <a:r>
              <a:rPr lang="en-US" sz="2199">
                <a:solidFill>
                  <a:srgbClr val="000000"/>
                </a:solidFill>
                <a:latin typeface="Poppins"/>
                <a:ea typeface="Poppins"/>
                <a:cs typeface="Poppins"/>
                <a:sym typeface="Poppins"/>
              </a:rPr>
              <a:t>Conflict history: [13, 12, 10, 11, 14, 16, 13, 13, 12, 12, 8, 7, 8, 6, 7, 7, 5, 3, 5, 4, 7, 9, 10, 7, 6, 9, 11, 9, 8, 9, 10, 9, 12, 11, 14, 10, 10, 10, 10, 9, 8, 5, 7, 8, 10, 9, 11, 9, 5, 6, 6, 8, 6, 7, 4, 3, 5, 5, 4, 5, 8, 7, 7, 7, 8, 7, 8, 8, 6, 5, 6, 8, 9, 10, 10, 11, 13, 11, 15, 15, 12, 9, 6, 6, 6, 6, 6, 5, 4, 3, 3, 3, 2, 2, 2, 2, 1, 1, 1, 1, 1, 1, 1, 1, 1, 1, 1, 1, 1, 1, 1, 1, 1, 1, 1, 1, 1, 1, 1, 1, 1, 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4600"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17959" y="2214455"/>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46125" y="592094"/>
            <a:ext cx="3981709" cy="4096385"/>
          </a:xfrm>
          <a:prstGeom prst="rect">
            <a:avLst/>
          </a:prstGeom>
        </p:spPr>
        <p:txBody>
          <a:bodyPr lIns="0" tIns="0" rIns="0" bIns="0" rtlCol="0" anchor="t">
            <a:spAutoFit/>
          </a:bodyPr>
          <a:lstStyle/>
          <a:p>
            <a:pPr algn="l">
              <a:lnSpc>
                <a:spcPts val="6399"/>
              </a:lnSpc>
            </a:pPr>
            <a:r>
              <a:rPr lang="en-US" sz="6399"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18</a:t>
            </a:r>
          </a:p>
        </p:txBody>
      </p:sp>
      <p:sp>
        <p:nvSpPr>
          <p:cNvPr id="13" name="TextBox 13"/>
          <p:cNvSpPr txBox="1"/>
          <p:nvPr/>
        </p:nvSpPr>
        <p:spPr>
          <a:xfrm>
            <a:off x="5586077" y="601619"/>
            <a:ext cx="11673223" cy="1679575"/>
          </a:xfrm>
          <a:prstGeom prst="rect">
            <a:avLst/>
          </a:prstGeom>
        </p:spPr>
        <p:txBody>
          <a:bodyPr lIns="0" tIns="0" rIns="0" bIns="0" rtlCol="0" anchor="t">
            <a:spAutoFit/>
          </a:bodyPr>
          <a:lstStyle/>
          <a:p>
            <a:pPr algn="l">
              <a:lnSpc>
                <a:spcPts val="6499"/>
              </a:lnSpc>
            </a:pPr>
            <a:r>
              <a:rPr lang="en-US" sz="6499" b="1">
                <a:solidFill>
                  <a:srgbClr val="263744"/>
                </a:solidFill>
                <a:latin typeface="Inter Bold"/>
                <a:ea typeface="Inter Bold"/>
                <a:cs typeface="Inter Bold"/>
                <a:sym typeface="Inter Bold"/>
              </a:rPr>
              <a:t>Task 6: Algorithm Behavior Analysis</a:t>
            </a:r>
          </a:p>
        </p:txBody>
      </p:sp>
      <p:sp>
        <p:nvSpPr>
          <p:cNvPr id="14" name="TextBox 14"/>
          <p:cNvSpPr txBox="1"/>
          <p:nvPr/>
        </p:nvSpPr>
        <p:spPr>
          <a:xfrm>
            <a:off x="5586077" y="2849285"/>
            <a:ext cx="11634062" cy="281432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Poppins"/>
                <a:ea typeface="Poppins"/>
                <a:cs typeface="Poppins"/>
                <a:sym typeface="Poppins"/>
              </a:rPr>
              <a:t>So sánh thuật toán bằng giá trị thời gian chạy và giá trị hàm mục tiêu.</a:t>
            </a:r>
          </a:p>
          <a:p>
            <a:pPr marL="690881" lvl="1" indent="-345440" algn="l">
              <a:lnSpc>
                <a:spcPts val="4480"/>
              </a:lnSpc>
              <a:buFont typeface="Arial"/>
              <a:buChar char="•"/>
            </a:pPr>
            <a:r>
              <a:rPr lang="en-US" sz="3200">
                <a:solidFill>
                  <a:srgbClr val="000000"/>
                </a:solidFill>
                <a:latin typeface="Poppins"/>
                <a:ea typeface="Poppins"/>
                <a:cs typeface="Poppins"/>
                <a:sym typeface="Poppins"/>
              </a:rPr>
              <a:t>Đảm bảo chạy thuật toán cho từng kích thước bảng nhiều lần (ít nhất 100 lần) với các bảng khởi đầu khác nhau và báo cáo giá trị trung bình.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851876" y="453089"/>
            <a:ext cx="13166065" cy="9380821"/>
          </a:xfrm>
          <a:custGeom>
            <a:avLst/>
            <a:gdLst/>
            <a:ahLst/>
            <a:cxnLst/>
            <a:rect l="l" t="t" r="r" b="b"/>
            <a:pathLst>
              <a:path w="13166065" h="9380821">
                <a:moveTo>
                  <a:pt x="0" y="0"/>
                </a:moveTo>
                <a:lnTo>
                  <a:pt x="13166065" y="0"/>
                </a:lnTo>
                <a:lnTo>
                  <a:pt x="13166065" y="9380822"/>
                </a:lnTo>
                <a:lnTo>
                  <a:pt x="0" y="9380822"/>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19</a:t>
            </a:r>
          </a:p>
        </p:txBody>
      </p:sp>
      <p:sp>
        <p:nvSpPr>
          <p:cNvPr id="14" name="TextBox 14"/>
          <p:cNvSpPr txBox="1"/>
          <p:nvPr/>
        </p:nvSpPr>
        <p:spPr>
          <a:xfrm>
            <a:off x="288299" y="4015986"/>
            <a:ext cx="2750089" cy="12630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6: Algorithm Behavior Analysis: Comparison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461886" y="1145039"/>
            <a:ext cx="14091491" cy="7996921"/>
          </a:xfrm>
          <a:custGeom>
            <a:avLst/>
            <a:gdLst/>
            <a:ahLst/>
            <a:cxnLst/>
            <a:rect l="l" t="t" r="r" b="b"/>
            <a:pathLst>
              <a:path w="14091491" h="7996921">
                <a:moveTo>
                  <a:pt x="0" y="0"/>
                </a:moveTo>
                <a:lnTo>
                  <a:pt x="14091491" y="0"/>
                </a:lnTo>
                <a:lnTo>
                  <a:pt x="14091491" y="7996922"/>
                </a:lnTo>
                <a:lnTo>
                  <a:pt x="0" y="7996922"/>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20</a:t>
            </a:r>
          </a:p>
        </p:txBody>
      </p:sp>
      <p:sp>
        <p:nvSpPr>
          <p:cNvPr id="14" name="TextBox 14"/>
          <p:cNvSpPr txBox="1"/>
          <p:nvPr/>
        </p:nvSpPr>
        <p:spPr>
          <a:xfrm>
            <a:off x="288299" y="4015986"/>
            <a:ext cx="2750089" cy="12630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6: Algorithm Behavior Analysis: Comparison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604431" y="1672687"/>
            <a:ext cx="13806400" cy="5597189"/>
          </a:xfrm>
          <a:custGeom>
            <a:avLst/>
            <a:gdLst/>
            <a:ahLst/>
            <a:cxnLst/>
            <a:rect l="l" t="t" r="r" b="b"/>
            <a:pathLst>
              <a:path w="13806400" h="5597189">
                <a:moveTo>
                  <a:pt x="0" y="0"/>
                </a:moveTo>
                <a:lnTo>
                  <a:pt x="13806401" y="0"/>
                </a:lnTo>
                <a:lnTo>
                  <a:pt x="13806401" y="5597189"/>
                </a:lnTo>
                <a:lnTo>
                  <a:pt x="0" y="5597189"/>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21</a:t>
            </a:r>
          </a:p>
        </p:txBody>
      </p:sp>
      <p:sp>
        <p:nvSpPr>
          <p:cNvPr id="14" name="TextBox 14"/>
          <p:cNvSpPr txBox="1"/>
          <p:nvPr/>
        </p:nvSpPr>
        <p:spPr>
          <a:xfrm>
            <a:off x="3604431" y="462280"/>
            <a:ext cx="571517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Kết quả</a:t>
            </a:r>
          </a:p>
        </p:txBody>
      </p:sp>
      <p:sp>
        <p:nvSpPr>
          <p:cNvPr id="15" name="TextBox 15"/>
          <p:cNvSpPr txBox="1"/>
          <p:nvPr/>
        </p:nvSpPr>
        <p:spPr>
          <a:xfrm>
            <a:off x="288299" y="4015986"/>
            <a:ext cx="2750089" cy="12630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6: Algorithm Behavior Analysis: Comparison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489860" y="1459170"/>
            <a:ext cx="14035543" cy="7368660"/>
          </a:xfrm>
          <a:custGeom>
            <a:avLst/>
            <a:gdLst/>
            <a:ahLst/>
            <a:cxnLst/>
            <a:rect l="l" t="t" r="r" b="b"/>
            <a:pathLst>
              <a:path w="14035543" h="7368660">
                <a:moveTo>
                  <a:pt x="0" y="0"/>
                </a:moveTo>
                <a:lnTo>
                  <a:pt x="14035543" y="0"/>
                </a:lnTo>
                <a:lnTo>
                  <a:pt x="14035543" y="7368660"/>
                </a:lnTo>
                <a:lnTo>
                  <a:pt x="0" y="7368660"/>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22</a:t>
            </a:r>
          </a:p>
        </p:txBody>
      </p:sp>
      <p:sp>
        <p:nvSpPr>
          <p:cNvPr id="14" name="TextBox 14"/>
          <p:cNvSpPr txBox="1"/>
          <p:nvPr/>
        </p:nvSpPr>
        <p:spPr>
          <a:xfrm>
            <a:off x="288299" y="4015986"/>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6: Algorithm Behavior Analysis: Algorithm Convergence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38565" y="9545579"/>
            <a:ext cx="1273446" cy="477152"/>
            <a:chOff x="0" y="0"/>
            <a:chExt cx="1084619" cy="406400"/>
          </a:xfrm>
        </p:grpSpPr>
        <p:sp>
          <p:nvSpPr>
            <p:cNvPr id="6" name="Freeform 6"/>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7" name="TextBox 7"/>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3567363" y="362560"/>
            <a:ext cx="7059141" cy="2779537"/>
          </a:xfrm>
          <a:custGeom>
            <a:avLst/>
            <a:gdLst/>
            <a:ahLst/>
            <a:cxnLst/>
            <a:rect l="l" t="t" r="r" b="b"/>
            <a:pathLst>
              <a:path w="7059141" h="2779537">
                <a:moveTo>
                  <a:pt x="0" y="0"/>
                </a:moveTo>
                <a:lnTo>
                  <a:pt x="7059141" y="0"/>
                </a:lnTo>
                <a:lnTo>
                  <a:pt x="7059141" y="2779536"/>
                </a:lnTo>
                <a:lnTo>
                  <a:pt x="0" y="2779536"/>
                </a:lnTo>
                <a:lnTo>
                  <a:pt x="0" y="0"/>
                </a:lnTo>
                <a:close/>
              </a:path>
            </a:pathLst>
          </a:custGeom>
          <a:blipFill>
            <a:blip r:embed="rId2"/>
            <a:stretch>
              <a:fillRect/>
            </a:stretch>
          </a:blipFill>
        </p:spPr>
        <p:txBody>
          <a:bodyPr/>
          <a:lstStyle/>
          <a:p>
            <a:endParaRPr lang="en-US"/>
          </a:p>
        </p:txBody>
      </p:sp>
      <p:sp>
        <p:nvSpPr>
          <p:cNvPr id="9" name="Freeform 9"/>
          <p:cNvSpPr/>
          <p:nvPr/>
        </p:nvSpPr>
        <p:spPr>
          <a:xfrm>
            <a:off x="10959879" y="362560"/>
            <a:ext cx="7059141" cy="2779537"/>
          </a:xfrm>
          <a:custGeom>
            <a:avLst/>
            <a:gdLst/>
            <a:ahLst/>
            <a:cxnLst/>
            <a:rect l="l" t="t" r="r" b="b"/>
            <a:pathLst>
              <a:path w="7059141" h="2779537">
                <a:moveTo>
                  <a:pt x="0" y="0"/>
                </a:moveTo>
                <a:lnTo>
                  <a:pt x="7059141" y="0"/>
                </a:lnTo>
                <a:lnTo>
                  <a:pt x="7059141" y="2779536"/>
                </a:lnTo>
                <a:lnTo>
                  <a:pt x="0" y="2779536"/>
                </a:lnTo>
                <a:lnTo>
                  <a:pt x="0" y="0"/>
                </a:lnTo>
                <a:close/>
              </a:path>
            </a:pathLst>
          </a:custGeom>
          <a:blipFill>
            <a:blip r:embed="rId3"/>
            <a:stretch>
              <a:fillRect/>
            </a:stretch>
          </a:blipFill>
        </p:spPr>
        <p:txBody>
          <a:bodyPr/>
          <a:lstStyle/>
          <a:p>
            <a:endParaRPr lang="en-US"/>
          </a:p>
        </p:txBody>
      </p:sp>
      <p:sp>
        <p:nvSpPr>
          <p:cNvPr id="10" name="Freeform 10"/>
          <p:cNvSpPr/>
          <p:nvPr/>
        </p:nvSpPr>
        <p:spPr>
          <a:xfrm>
            <a:off x="3567363" y="3500613"/>
            <a:ext cx="7059141" cy="2779537"/>
          </a:xfrm>
          <a:custGeom>
            <a:avLst/>
            <a:gdLst/>
            <a:ahLst/>
            <a:cxnLst/>
            <a:rect l="l" t="t" r="r" b="b"/>
            <a:pathLst>
              <a:path w="7059141" h="2779537">
                <a:moveTo>
                  <a:pt x="0" y="0"/>
                </a:moveTo>
                <a:lnTo>
                  <a:pt x="7059141" y="0"/>
                </a:lnTo>
                <a:lnTo>
                  <a:pt x="7059141" y="2779537"/>
                </a:lnTo>
                <a:lnTo>
                  <a:pt x="0" y="2779537"/>
                </a:lnTo>
                <a:lnTo>
                  <a:pt x="0" y="0"/>
                </a:lnTo>
                <a:close/>
              </a:path>
            </a:pathLst>
          </a:custGeom>
          <a:blipFill>
            <a:blip r:embed="rId4"/>
            <a:stretch>
              <a:fillRect/>
            </a:stretch>
          </a:blipFill>
        </p:spPr>
        <p:txBody>
          <a:bodyPr/>
          <a:lstStyle/>
          <a:p>
            <a:endParaRPr lang="en-US"/>
          </a:p>
        </p:txBody>
      </p:sp>
      <p:sp>
        <p:nvSpPr>
          <p:cNvPr id="11" name="Freeform 11"/>
          <p:cNvSpPr/>
          <p:nvPr/>
        </p:nvSpPr>
        <p:spPr>
          <a:xfrm>
            <a:off x="7268767" y="6673966"/>
            <a:ext cx="7059141" cy="2779537"/>
          </a:xfrm>
          <a:custGeom>
            <a:avLst/>
            <a:gdLst/>
            <a:ahLst/>
            <a:cxnLst/>
            <a:rect l="l" t="t" r="r" b="b"/>
            <a:pathLst>
              <a:path w="7059141" h="2779537">
                <a:moveTo>
                  <a:pt x="0" y="0"/>
                </a:moveTo>
                <a:lnTo>
                  <a:pt x="7059141" y="0"/>
                </a:lnTo>
                <a:lnTo>
                  <a:pt x="7059141" y="2779537"/>
                </a:lnTo>
                <a:lnTo>
                  <a:pt x="0" y="2779537"/>
                </a:lnTo>
                <a:lnTo>
                  <a:pt x="0" y="0"/>
                </a:lnTo>
                <a:close/>
              </a:path>
            </a:pathLst>
          </a:custGeom>
          <a:blipFill>
            <a:blip r:embed="rId5"/>
            <a:stretch>
              <a:fillRect/>
            </a:stretch>
          </a:blipFill>
        </p:spPr>
        <p:txBody>
          <a:bodyPr/>
          <a:lstStyle/>
          <a:p>
            <a:endParaRPr lang="en-US"/>
          </a:p>
        </p:txBody>
      </p:sp>
      <p:sp>
        <p:nvSpPr>
          <p:cNvPr id="12" name="Freeform 12"/>
          <p:cNvSpPr/>
          <p:nvPr/>
        </p:nvSpPr>
        <p:spPr>
          <a:xfrm>
            <a:off x="10959879" y="3532480"/>
            <a:ext cx="7059141" cy="2779537"/>
          </a:xfrm>
          <a:custGeom>
            <a:avLst/>
            <a:gdLst/>
            <a:ahLst/>
            <a:cxnLst/>
            <a:rect l="l" t="t" r="r" b="b"/>
            <a:pathLst>
              <a:path w="7059141" h="2779537">
                <a:moveTo>
                  <a:pt x="0" y="0"/>
                </a:moveTo>
                <a:lnTo>
                  <a:pt x="7059141" y="0"/>
                </a:lnTo>
                <a:lnTo>
                  <a:pt x="7059141" y="2779536"/>
                </a:lnTo>
                <a:lnTo>
                  <a:pt x="0" y="2779536"/>
                </a:lnTo>
                <a:lnTo>
                  <a:pt x="0" y="0"/>
                </a:lnTo>
                <a:close/>
              </a:path>
            </a:pathLst>
          </a:custGeom>
          <a:blipFill>
            <a:blip r:embed="rId6"/>
            <a:stretch>
              <a:fillRect/>
            </a:stretch>
          </a:blipFill>
        </p:spPr>
        <p:txBody>
          <a:bodyPr/>
          <a:lstStyle/>
          <a:p>
            <a:endParaRPr lang="en-US"/>
          </a:p>
        </p:txBody>
      </p:sp>
      <p:sp>
        <p:nvSpPr>
          <p:cNvPr id="13" name="TextBox 13"/>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4" name="TextBox 14"/>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23</a:t>
            </a:r>
          </a:p>
        </p:txBody>
      </p:sp>
      <p:sp>
        <p:nvSpPr>
          <p:cNvPr id="15" name="TextBox 15"/>
          <p:cNvSpPr txBox="1"/>
          <p:nvPr/>
        </p:nvSpPr>
        <p:spPr>
          <a:xfrm>
            <a:off x="288299" y="4015986"/>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6: Algorithm Behavior Analysis: Algorithm Convergence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564495" y="925545"/>
            <a:ext cx="13886273" cy="8435911"/>
          </a:xfrm>
          <a:custGeom>
            <a:avLst/>
            <a:gdLst/>
            <a:ahLst/>
            <a:cxnLst/>
            <a:rect l="l" t="t" r="r" b="b"/>
            <a:pathLst>
              <a:path w="13886273" h="8435911">
                <a:moveTo>
                  <a:pt x="0" y="0"/>
                </a:moveTo>
                <a:lnTo>
                  <a:pt x="13886273" y="0"/>
                </a:lnTo>
                <a:lnTo>
                  <a:pt x="13886273" y="8435910"/>
                </a:lnTo>
                <a:lnTo>
                  <a:pt x="0" y="8435910"/>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24</a:t>
            </a:r>
          </a:p>
        </p:txBody>
      </p:sp>
      <p:sp>
        <p:nvSpPr>
          <p:cNvPr id="14" name="TextBox 14"/>
          <p:cNvSpPr txBox="1"/>
          <p:nvPr/>
        </p:nvSpPr>
        <p:spPr>
          <a:xfrm>
            <a:off x="288299" y="4015986"/>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6: Algorithm Behavior Analysis: Problem Size Scalability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609165" y="1469121"/>
            <a:ext cx="13796933" cy="7348758"/>
          </a:xfrm>
          <a:custGeom>
            <a:avLst/>
            <a:gdLst/>
            <a:ahLst/>
            <a:cxnLst/>
            <a:rect l="l" t="t" r="r" b="b"/>
            <a:pathLst>
              <a:path w="13796933" h="7348758">
                <a:moveTo>
                  <a:pt x="0" y="0"/>
                </a:moveTo>
                <a:lnTo>
                  <a:pt x="13796933" y="0"/>
                </a:lnTo>
                <a:lnTo>
                  <a:pt x="13796933" y="7348758"/>
                </a:lnTo>
                <a:lnTo>
                  <a:pt x="0" y="7348758"/>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25</a:t>
            </a:r>
          </a:p>
        </p:txBody>
      </p:sp>
      <p:sp>
        <p:nvSpPr>
          <p:cNvPr id="14" name="TextBox 14"/>
          <p:cNvSpPr txBox="1"/>
          <p:nvPr/>
        </p:nvSpPr>
        <p:spPr>
          <a:xfrm>
            <a:off x="288299" y="4015986"/>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6: Algorithm Behavior Analysis: Problem Size Scalability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444275" y="1276312"/>
            <a:ext cx="14126712" cy="7734375"/>
          </a:xfrm>
          <a:custGeom>
            <a:avLst/>
            <a:gdLst/>
            <a:ahLst/>
            <a:cxnLst/>
            <a:rect l="l" t="t" r="r" b="b"/>
            <a:pathLst>
              <a:path w="14126712" h="7734375">
                <a:moveTo>
                  <a:pt x="0" y="0"/>
                </a:moveTo>
                <a:lnTo>
                  <a:pt x="14126713" y="0"/>
                </a:lnTo>
                <a:lnTo>
                  <a:pt x="14126713" y="7734376"/>
                </a:lnTo>
                <a:lnTo>
                  <a:pt x="0" y="7734376"/>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26</a:t>
            </a:r>
          </a:p>
        </p:txBody>
      </p:sp>
      <p:sp>
        <p:nvSpPr>
          <p:cNvPr id="14" name="TextBox 14"/>
          <p:cNvSpPr txBox="1"/>
          <p:nvPr/>
        </p:nvSpPr>
        <p:spPr>
          <a:xfrm>
            <a:off x="288299" y="4015986"/>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6: Algorithm Behavior Analysis: Problem Size Scalability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graphicFrame>
        <p:nvGraphicFramePr>
          <p:cNvPr id="11" name="Table 11"/>
          <p:cNvGraphicFramePr>
            <a:graphicFrameLocks noGrp="1"/>
          </p:cNvGraphicFramePr>
          <p:nvPr/>
        </p:nvGraphicFramePr>
        <p:xfrm>
          <a:off x="3573896" y="949439"/>
          <a:ext cx="13867470" cy="6086168"/>
        </p:xfrm>
        <a:graphic>
          <a:graphicData uri="http://schemas.openxmlformats.org/drawingml/2006/table">
            <a:tbl>
              <a:tblPr/>
              <a:tblGrid>
                <a:gridCol w="2876978">
                  <a:extLst>
                    <a:ext uri="{9D8B030D-6E8A-4147-A177-3AD203B41FA5}">
                      <a16:colId xmlns:a16="http://schemas.microsoft.com/office/drawing/2014/main" val="20000"/>
                    </a:ext>
                  </a:extLst>
                </a:gridCol>
                <a:gridCol w="2557215">
                  <a:extLst>
                    <a:ext uri="{9D8B030D-6E8A-4147-A177-3AD203B41FA5}">
                      <a16:colId xmlns:a16="http://schemas.microsoft.com/office/drawing/2014/main" val="20001"/>
                    </a:ext>
                  </a:extLst>
                </a:gridCol>
                <a:gridCol w="8433277">
                  <a:extLst>
                    <a:ext uri="{9D8B030D-6E8A-4147-A177-3AD203B41FA5}">
                      <a16:colId xmlns:a16="http://schemas.microsoft.com/office/drawing/2014/main" val="20002"/>
                    </a:ext>
                  </a:extLst>
                </a:gridCol>
              </a:tblGrid>
              <a:tr h="117895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Thuật toán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Độ phức tạp thực nghiệm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Nhận xét hội tụ &amp; mở rộng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49767">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Steepest HC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O(n^2.91)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Cải thiện nhanh nhưng duyệt toàn bộ lân cận → chậm khi n lớn.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49767">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Stochastic HC 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O(n^3.59)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Chọn ngẫu nhiên từ các nước đi tốt → không tối ưu, tốn thời gian.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7895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Stochastic HC 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O(n^0.92)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First-choice HC scale tốt nhất, vì chỉ cần tìm một nước đi cải thiện.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7895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Simulated Annealing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O(n^1.88)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Dao động nhẹ, tránh local optima, hội tụ ổn định.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49767">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HC w/ Restarts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O(n^5.79)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Khởi động lại nhiều lần → tốn thời gian, không phù hợp với n lớn.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27</a:t>
            </a:r>
          </a:p>
        </p:txBody>
      </p:sp>
      <p:sp>
        <p:nvSpPr>
          <p:cNvPr id="14" name="TextBox 14"/>
          <p:cNvSpPr txBox="1"/>
          <p:nvPr/>
        </p:nvSpPr>
        <p:spPr>
          <a:xfrm>
            <a:off x="288299" y="4015986"/>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Task 6: Algorithm Behavior Analysis: Problem Size Scalability</a:t>
            </a:r>
          </a:p>
        </p:txBody>
      </p:sp>
      <p:sp>
        <p:nvSpPr>
          <p:cNvPr id="15" name="TextBox 15"/>
          <p:cNvSpPr txBox="1"/>
          <p:nvPr/>
        </p:nvSpPr>
        <p:spPr>
          <a:xfrm>
            <a:off x="3604431" y="209065"/>
            <a:ext cx="571517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Problem Size Scalability</a:t>
            </a:r>
          </a:p>
        </p:txBody>
      </p:sp>
      <p:sp>
        <p:nvSpPr>
          <p:cNvPr id="16" name="TextBox 16"/>
          <p:cNvSpPr txBox="1"/>
          <p:nvPr/>
        </p:nvSpPr>
        <p:spPr>
          <a:xfrm>
            <a:off x="3589164" y="7140382"/>
            <a:ext cx="13836935" cy="2520315"/>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Poppins"/>
                <a:ea typeface="Poppins"/>
                <a:cs typeface="Poppins"/>
                <a:sym typeface="Poppins"/>
              </a:rPr>
              <a:t>Trong các thuật toán đã thử nghiệm, Stochastic HC 2 có khả năng mở rộng tốt nhất với độ phức tạp gần tuyến tính. </a:t>
            </a:r>
          </a:p>
          <a:p>
            <a:pPr marL="518160" lvl="1" indent="-259080" algn="l">
              <a:lnSpc>
                <a:spcPts val="3359"/>
              </a:lnSpc>
              <a:buFont typeface="Arial"/>
              <a:buChar char="•"/>
            </a:pPr>
            <a:r>
              <a:rPr lang="en-US" sz="2400">
                <a:solidFill>
                  <a:srgbClr val="000000"/>
                </a:solidFill>
                <a:latin typeface="Poppins"/>
                <a:ea typeface="Poppins"/>
                <a:cs typeface="Poppins"/>
                <a:sym typeface="Poppins"/>
              </a:rPr>
              <a:t>Simulated Annealing cũng là lựa chọn ổn định khi kích thước bàn cờ tăng, nhờ khả năng thoát khỏi local optima mà không cần duyệt toàn bộ lân cận. </a:t>
            </a:r>
          </a:p>
          <a:p>
            <a:pPr marL="518160" lvl="1" indent="-259080" algn="l">
              <a:lnSpc>
                <a:spcPts val="3359"/>
              </a:lnSpc>
              <a:buFont typeface="Arial"/>
              <a:buChar char="•"/>
            </a:pPr>
            <a:r>
              <a:rPr lang="en-US" sz="2400">
                <a:solidFill>
                  <a:srgbClr val="000000"/>
                </a:solidFill>
                <a:latin typeface="Poppins"/>
                <a:ea typeface="Poppins"/>
                <a:cs typeface="Poppins"/>
                <a:sym typeface="Poppins"/>
              </a:rPr>
              <a:t>Ngược lại, HC with Random Restarts có độ phức tạp cao nhất và không phù hợp cho các bài toán lớn nếu không giới hạn số lần khởi động lại.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4600"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17959" y="2214455"/>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46125" y="592094"/>
            <a:ext cx="3981709" cy="4096385"/>
          </a:xfrm>
          <a:prstGeom prst="rect">
            <a:avLst/>
          </a:prstGeom>
        </p:spPr>
        <p:txBody>
          <a:bodyPr lIns="0" tIns="0" rIns="0" bIns="0" rtlCol="0" anchor="t">
            <a:spAutoFit/>
          </a:bodyPr>
          <a:lstStyle/>
          <a:p>
            <a:pPr algn="l">
              <a:lnSpc>
                <a:spcPts val="6399"/>
              </a:lnSpc>
            </a:pPr>
            <a:r>
              <a:rPr lang="en-US" sz="6399"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28</a:t>
            </a:r>
          </a:p>
        </p:txBody>
      </p:sp>
      <p:sp>
        <p:nvSpPr>
          <p:cNvPr id="13" name="TextBox 13"/>
          <p:cNvSpPr txBox="1"/>
          <p:nvPr/>
        </p:nvSpPr>
        <p:spPr>
          <a:xfrm>
            <a:off x="5586077" y="601619"/>
            <a:ext cx="11957154" cy="1679575"/>
          </a:xfrm>
          <a:prstGeom prst="rect">
            <a:avLst/>
          </a:prstGeom>
        </p:spPr>
        <p:txBody>
          <a:bodyPr lIns="0" tIns="0" rIns="0" bIns="0" rtlCol="0" anchor="t">
            <a:spAutoFit/>
          </a:bodyPr>
          <a:lstStyle/>
          <a:p>
            <a:pPr algn="l">
              <a:lnSpc>
                <a:spcPts val="6499"/>
              </a:lnSpc>
            </a:pPr>
            <a:r>
              <a:rPr lang="en-US" sz="6499" b="1">
                <a:solidFill>
                  <a:srgbClr val="263744"/>
                </a:solidFill>
                <a:latin typeface="Inter Bold"/>
                <a:ea typeface="Inter Bold"/>
                <a:cs typeface="Inter Bold"/>
                <a:sym typeface="Inter Bold"/>
              </a:rPr>
              <a:t>Advanced task: Exploring other Local Moves Operators</a:t>
            </a:r>
          </a:p>
        </p:txBody>
      </p:sp>
      <p:sp>
        <p:nvSpPr>
          <p:cNvPr id="14" name="TextBox 14"/>
          <p:cNvSpPr txBox="1"/>
          <p:nvPr/>
        </p:nvSpPr>
        <p:spPr>
          <a:xfrm>
            <a:off x="5586077" y="2849285"/>
            <a:ext cx="11634062" cy="169037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Poppins"/>
                <a:ea typeface="Poppins"/>
                <a:cs typeface="Poppins"/>
                <a:sym typeface="Poppins"/>
              </a:rPr>
              <a:t>Move Operator Implementation </a:t>
            </a:r>
          </a:p>
          <a:p>
            <a:pPr marL="690881" lvl="1" indent="-345440" algn="l">
              <a:lnSpc>
                <a:spcPts val="4480"/>
              </a:lnSpc>
              <a:buFont typeface="Arial"/>
              <a:buChar char="•"/>
            </a:pPr>
            <a:r>
              <a:rPr lang="en-US" sz="3200">
                <a:solidFill>
                  <a:srgbClr val="000000"/>
                </a:solidFill>
                <a:latin typeface="Poppins"/>
                <a:ea typeface="Poppins"/>
                <a:cs typeface="Poppins"/>
                <a:sym typeface="Poppins"/>
              </a:rPr>
              <a:t>Experimental Analysis</a:t>
            </a:r>
          </a:p>
          <a:p>
            <a:pPr marL="690881" lvl="1" indent="-345440" algn="l">
              <a:lnSpc>
                <a:spcPts val="4480"/>
              </a:lnSpc>
              <a:buFont typeface="Arial"/>
              <a:buChar char="•"/>
            </a:pPr>
            <a:r>
              <a:rPr lang="en-US" sz="3200">
                <a:solidFill>
                  <a:srgbClr val="000000"/>
                </a:solidFill>
                <a:latin typeface="Poppins"/>
                <a:ea typeface="Poppins"/>
                <a:cs typeface="Poppins"/>
                <a:sym typeface="Poppins"/>
              </a:rPr>
              <a:t>Discussion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29</a:t>
            </a:r>
          </a:p>
        </p:txBody>
      </p:sp>
      <p:sp>
        <p:nvSpPr>
          <p:cNvPr id="13" name="TextBox 13"/>
          <p:cNvSpPr txBox="1"/>
          <p:nvPr/>
        </p:nvSpPr>
        <p:spPr>
          <a:xfrm>
            <a:off x="288299" y="4015986"/>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Advanced task: Exploring other Local Moves Operators</a:t>
            </a:r>
          </a:p>
        </p:txBody>
      </p:sp>
      <p:sp>
        <p:nvSpPr>
          <p:cNvPr id="14" name="TextBox 14"/>
          <p:cNvSpPr txBox="1"/>
          <p:nvPr/>
        </p:nvSpPr>
        <p:spPr>
          <a:xfrm>
            <a:off x="3756640" y="940728"/>
            <a:ext cx="13501982" cy="4500245"/>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Các Operator khác:</a:t>
            </a:r>
          </a:p>
          <a:p>
            <a:pPr marL="690881" lvl="1" indent="-345440" algn="l">
              <a:lnSpc>
                <a:spcPts val="4480"/>
              </a:lnSpc>
              <a:buFont typeface="Arial"/>
              <a:buChar char="•"/>
            </a:pPr>
            <a:r>
              <a:rPr lang="en-US" sz="3200">
                <a:solidFill>
                  <a:srgbClr val="000000"/>
                </a:solidFill>
                <a:latin typeface="Poppins"/>
                <a:ea typeface="Poppins"/>
                <a:cs typeface="Poppins"/>
                <a:sym typeface="Poppins"/>
              </a:rPr>
              <a:t>single step move</a:t>
            </a:r>
          </a:p>
          <a:p>
            <a:pPr marL="690881" lvl="1" indent="-345440" algn="l">
              <a:lnSpc>
                <a:spcPts val="4480"/>
              </a:lnSpc>
              <a:buFont typeface="Arial"/>
              <a:buChar char="•"/>
            </a:pPr>
            <a:r>
              <a:rPr lang="en-US" sz="3200">
                <a:solidFill>
                  <a:srgbClr val="000000"/>
                </a:solidFill>
                <a:latin typeface="Poppins"/>
                <a:ea typeface="Poppins"/>
                <a:cs typeface="Poppins"/>
                <a:sym typeface="Poppins"/>
              </a:rPr>
              <a:t>column swap</a:t>
            </a:r>
          </a:p>
          <a:p>
            <a:pPr marL="690881" lvl="1" indent="-345440" algn="l">
              <a:lnSpc>
                <a:spcPts val="4480"/>
              </a:lnSpc>
              <a:buFont typeface="Arial"/>
              <a:buChar char="•"/>
            </a:pPr>
            <a:r>
              <a:rPr lang="en-US" sz="3200">
                <a:solidFill>
                  <a:srgbClr val="000000"/>
                </a:solidFill>
                <a:latin typeface="Poppins"/>
                <a:ea typeface="Poppins"/>
                <a:cs typeface="Poppins"/>
                <a:sym typeface="Poppins"/>
              </a:rPr>
              <a:t>dual queen move</a:t>
            </a:r>
          </a:p>
          <a:p>
            <a:pPr marL="690881" lvl="1" indent="-345440" algn="l">
              <a:lnSpc>
                <a:spcPts val="4480"/>
              </a:lnSpc>
              <a:buFont typeface="Arial"/>
              <a:buChar char="•"/>
            </a:pPr>
            <a:r>
              <a:rPr lang="en-US" sz="3200">
                <a:solidFill>
                  <a:srgbClr val="000000"/>
                </a:solidFill>
                <a:latin typeface="Poppins"/>
                <a:ea typeface="Poppins"/>
                <a:cs typeface="Poppins"/>
                <a:sym typeface="Poppins"/>
              </a:rPr>
              <a:t>adaptive move</a:t>
            </a:r>
          </a:p>
          <a:p>
            <a:pPr algn="l">
              <a:lnSpc>
                <a:spcPts val="4480"/>
              </a:lnSpc>
            </a:pPr>
            <a:r>
              <a:rPr lang="en-US" sz="3200">
                <a:solidFill>
                  <a:srgbClr val="000000"/>
                </a:solidFill>
                <a:latin typeface="Poppins"/>
                <a:ea typeface="Poppins"/>
                <a:cs typeface="Poppins"/>
                <a:sym typeface="Poppins"/>
              </a:rPr>
              <a:t>Phân tích thực nghiệm:</a:t>
            </a:r>
          </a:p>
          <a:p>
            <a:pPr marL="690881" lvl="1" indent="-345440" algn="l">
              <a:lnSpc>
                <a:spcPts val="4480"/>
              </a:lnSpc>
              <a:buFont typeface="Arial"/>
              <a:buChar char="•"/>
            </a:pPr>
            <a:r>
              <a:rPr lang="en-US" sz="3200">
                <a:solidFill>
                  <a:srgbClr val="000000"/>
                </a:solidFill>
                <a:latin typeface="Poppins"/>
                <a:ea typeface="Poppins"/>
                <a:cs typeface="Poppins"/>
                <a:sym typeface="Poppins"/>
              </a:rPr>
              <a:t>Sử dụng bài toán 8-queen và 12-queen: Chạy thử nghiệm Stochastic Hill Climbing 2 với mỗi toán tử di chuyển 100 lần.</a:t>
            </a:r>
          </a:p>
        </p:txBody>
      </p:sp>
      <p:sp>
        <p:nvSpPr>
          <p:cNvPr id="15" name="Freeform 15"/>
          <p:cNvSpPr/>
          <p:nvPr/>
        </p:nvSpPr>
        <p:spPr>
          <a:xfrm>
            <a:off x="15080744" y="7089269"/>
            <a:ext cx="3068499" cy="3068499"/>
          </a:xfrm>
          <a:custGeom>
            <a:avLst/>
            <a:gdLst/>
            <a:ahLst/>
            <a:cxnLst/>
            <a:rect l="l" t="t" r="r" b="b"/>
            <a:pathLst>
              <a:path w="3068499" h="3068499">
                <a:moveTo>
                  <a:pt x="0" y="0"/>
                </a:moveTo>
                <a:lnTo>
                  <a:pt x="3068499" y="0"/>
                </a:lnTo>
                <a:lnTo>
                  <a:pt x="3068499" y="3068499"/>
                </a:lnTo>
                <a:lnTo>
                  <a:pt x="0" y="3068499"/>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570430" y="821427"/>
            <a:ext cx="9531434" cy="4539345"/>
          </a:xfrm>
          <a:custGeom>
            <a:avLst/>
            <a:gdLst/>
            <a:ahLst/>
            <a:cxnLst/>
            <a:rect l="l" t="t" r="r" b="b"/>
            <a:pathLst>
              <a:path w="9531434" h="4539345">
                <a:moveTo>
                  <a:pt x="0" y="0"/>
                </a:moveTo>
                <a:lnTo>
                  <a:pt x="9531434" y="0"/>
                </a:lnTo>
                <a:lnTo>
                  <a:pt x="9531434" y="4539346"/>
                </a:lnTo>
                <a:lnTo>
                  <a:pt x="0" y="4539346"/>
                </a:lnTo>
                <a:lnTo>
                  <a:pt x="0" y="0"/>
                </a:lnTo>
                <a:close/>
              </a:path>
            </a:pathLst>
          </a:custGeom>
          <a:blipFill>
            <a:blip r:embed="rId2"/>
            <a:stretch>
              <a:fillRect/>
            </a:stretch>
          </a:blipFill>
        </p:spPr>
        <p:txBody>
          <a:bodyPr/>
          <a:lstStyle/>
          <a:p>
            <a:endParaRPr lang="en-US"/>
          </a:p>
        </p:txBody>
      </p:sp>
      <p:sp>
        <p:nvSpPr>
          <p:cNvPr id="12" name="Freeform 12"/>
          <p:cNvSpPr/>
          <p:nvPr/>
        </p:nvSpPr>
        <p:spPr>
          <a:xfrm>
            <a:off x="3618333" y="5427871"/>
            <a:ext cx="9483531" cy="4480968"/>
          </a:xfrm>
          <a:custGeom>
            <a:avLst/>
            <a:gdLst/>
            <a:ahLst/>
            <a:cxnLst/>
            <a:rect l="l" t="t" r="r" b="b"/>
            <a:pathLst>
              <a:path w="9483531" h="4480968">
                <a:moveTo>
                  <a:pt x="0" y="0"/>
                </a:moveTo>
                <a:lnTo>
                  <a:pt x="9483531" y="0"/>
                </a:lnTo>
                <a:lnTo>
                  <a:pt x="9483531" y="4480968"/>
                </a:lnTo>
                <a:lnTo>
                  <a:pt x="0" y="4480968"/>
                </a:lnTo>
                <a:lnTo>
                  <a:pt x="0" y="0"/>
                </a:lnTo>
                <a:close/>
              </a:path>
            </a:pathLst>
          </a:custGeom>
          <a:blipFill>
            <a:blip r:embed="rId3"/>
            <a:stretch>
              <a:fillRect/>
            </a:stretch>
          </a:blipFill>
        </p:spPr>
        <p:txBody>
          <a:bodyPr/>
          <a:lstStyle/>
          <a:p>
            <a:endParaRPr lang="en-US"/>
          </a:p>
        </p:txBody>
      </p:sp>
      <p:sp>
        <p:nvSpPr>
          <p:cNvPr id="13" name="Freeform 13"/>
          <p:cNvSpPr/>
          <p:nvPr/>
        </p:nvSpPr>
        <p:spPr>
          <a:xfrm>
            <a:off x="13361344" y="8555979"/>
            <a:ext cx="4601130" cy="989600"/>
          </a:xfrm>
          <a:custGeom>
            <a:avLst/>
            <a:gdLst/>
            <a:ahLst/>
            <a:cxnLst/>
            <a:rect l="l" t="t" r="r" b="b"/>
            <a:pathLst>
              <a:path w="4601130" h="989600">
                <a:moveTo>
                  <a:pt x="0" y="0"/>
                </a:moveTo>
                <a:lnTo>
                  <a:pt x="4601130" y="0"/>
                </a:lnTo>
                <a:lnTo>
                  <a:pt x="4601130" y="989600"/>
                </a:lnTo>
                <a:lnTo>
                  <a:pt x="0" y="989600"/>
                </a:lnTo>
                <a:lnTo>
                  <a:pt x="0" y="0"/>
                </a:lnTo>
                <a:close/>
              </a:path>
            </a:pathLst>
          </a:custGeom>
          <a:blipFill>
            <a:blip r:embed="rId4"/>
            <a:stretch>
              <a:fillRect/>
            </a:stretch>
          </a:blipFill>
        </p:spPr>
        <p:txBody>
          <a:bodyPr/>
          <a:lstStyle/>
          <a:p>
            <a:endParaRPr lang="en-US"/>
          </a:p>
        </p:txBody>
      </p:sp>
      <p:sp>
        <p:nvSpPr>
          <p:cNvPr id="14" name="TextBox 14"/>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5" name="TextBox 15"/>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30</a:t>
            </a:r>
          </a:p>
        </p:txBody>
      </p:sp>
      <p:sp>
        <p:nvSpPr>
          <p:cNvPr id="16" name="TextBox 16"/>
          <p:cNvSpPr txBox="1"/>
          <p:nvPr/>
        </p:nvSpPr>
        <p:spPr>
          <a:xfrm>
            <a:off x="288299" y="4015986"/>
            <a:ext cx="2750089" cy="21012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Advanced task: Exploring other Local Moves Operators:</a:t>
            </a:r>
          </a:p>
          <a:p>
            <a:pPr algn="l">
              <a:lnSpc>
                <a:spcPts val="3359"/>
              </a:lnSpc>
            </a:pPr>
            <a:r>
              <a:rPr lang="en-US" sz="2400">
                <a:solidFill>
                  <a:srgbClr val="FFFFFF"/>
                </a:solidFill>
                <a:latin typeface="Poppins"/>
                <a:ea typeface="Poppins"/>
                <a:cs typeface="Poppins"/>
                <a:sym typeface="Poppins"/>
              </a:rPr>
              <a:t>Discussion</a:t>
            </a:r>
          </a:p>
        </p:txBody>
      </p:sp>
      <p:sp>
        <p:nvSpPr>
          <p:cNvPr id="17" name="TextBox 17"/>
          <p:cNvSpPr txBox="1"/>
          <p:nvPr/>
        </p:nvSpPr>
        <p:spPr>
          <a:xfrm>
            <a:off x="3604431" y="209065"/>
            <a:ext cx="571517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Thực nghiệm với n=8</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618333" y="777356"/>
            <a:ext cx="9700352" cy="4583416"/>
          </a:xfrm>
          <a:custGeom>
            <a:avLst/>
            <a:gdLst/>
            <a:ahLst/>
            <a:cxnLst/>
            <a:rect l="l" t="t" r="r" b="b"/>
            <a:pathLst>
              <a:path w="9700352" h="4583416">
                <a:moveTo>
                  <a:pt x="0" y="0"/>
                </a:moveTo>
                <a:lnTo>
                  <a:pt x="9700352" y="0"/>
                </a:lnTo>
                <a:lnTo>
                  <a:pt x="9700352" y="4583417"/>
                </a:lnTo>
                <a:lnTo>
                  <a:pt x="0" y="4583417"/>
                </a:lnTo>
                <a:lnTo>
                  <a:pt x="0" y="0"/>
                </a:lnTo>
                <a:close/>
              </a:path>
            </a:pathLst>
          </a:custGeom>
          <a:blipFill>
            <a:blip r:embed="rId2"/>
            <a:stretch>
              <a:fillRect/>
            </a:stretch>
          </a:blipFill>
        </p:spPr>
        <p:txBody>
          <a:bodyPr/>
          <a:lstStyle/>
          <a:p>
            <a:endParaRPr lang="en-US"/>
          </a:p>
        </p:txBody>
      </p:sp>
      <p:sp>
        <p:nvSpPr>
          <p:cNvPr id="12" name="Freeform 12"/>
          <p:cNvSpPr/>
          <p:nvPr/>
        </p:nvSpPr>
        <p:spPr>
          <a:xfrm>
            <a:off x="3604431" y="5194170"/>
            <a:ext cx="9714254" cy="4589985"/>
          </a:xfrm>
          <a:custGeom>
            <a:avLst/>
            <a:gdLst/>
            <a:ahLst/>
            <a:cxnLst/>
            <a:rect l="l" t="t" r="r" b="b"/>
            <a:pathLst>
              <a:path w="9714254" h="4589985">
                <a:moveTo>
                  <a:pt x="0" y="0"/>
                </a:moveTo>
                <a:lnTo>
                  <a:pt x="9714254" y="0"/>
                </a:lnTo>
                <a:lnTo>
                  <a:pt x="9714254" y="4589985"/>
                </a:lnTo>
                <a:lnTo>
                  <a:pt x="0" y="4589985"/>
                </a:lnTo>
                <a:lnTo>
                  <a:pt x="0" y="0"/>
                </a:lnTo>
                <a:close/>
              </a:path>
            </a:pathLst>
          </a:custGeom>
          <a:blipFill>
            <a:blip r:embed="rId3"/>
            <a:stretch>
              <a:fillRect/>
            </a:stretch>
          </a:blipFill>
        </p:spPr>
        <p:txBody>
          <a:bodyPr/>
          <a:lstStyle/>
          <a:p>
            <a:endParaRPr lang="en-US"/>
          </a:p>
        </p:txBody>
      </p:sp>
      <p:sp>
        <p:nvSpPr>
          <p:cNvPr id="13" name="Freeform 13"/>
          <p:cNvSpPr/>
          <p:nvPr/>
        </p:nvSpPr>
        <p:spPr>
          <a:xfrm>
            <a:off x="13404410" y="8551021"/>
            <a:ext cx="4661364" cy="994558"/>
          </a:xfrm>
          <a:custGeom>
            <a:avLst/>
            <a:gdLst/>
            <a:ahLst/>
            <a:cxnLst/>
            <a:rect l="l" t="t" r="r" b="b"/>
            <a:pathLst>
              <a:path w="4661364" h="994558">
                <a:moveTo>
                  <a:pt x="0" y="0"/>
                </a:moveTo>
                <a:lnTo>
                  <a:pt x="4661365" y="0"/>
                </a:lnTo>
                <a:lnTo>
                  <a:pt x="4661365" y="994558"/>
                </a:lnTo>
                <a:lnTo>
                  <a:pt x="0" y="994558"/>
                </a:lnTo>
                <a:lnTo>
                  <a:pt x="0" y="0"/>
                </a:lnTo>
                <a:close/>
              </a:path>
            </a:pathLst>
          </a:custGeom>
          <a:blipFill>
            <a:blip r:embed="rId4"/>
            <a:stretch>
              <a:fillRect/>
            </a:stretch>
          </a:blipFill>
        </p:spPr>
        <p:txBody>
          <a:bodyPr/>
          <a:lstStyle/>
          <a:p>
            <a:endParaRPr lang="en-US"/>
          </a:p>
        </p:txBody>
      </p:sp>
      <p:sp>
        <p:nvSpPr>
          <p:cNvPr id="14" name="TextBox 14"/>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5" name="TextBox 15"/>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31</a:t>
            </a:r>
          </a:p>
        </p:txBody>
      </p:sp>
      <p:sp>
        <p:nvSpPr>
          <p:cNvPr id="16" name="TextBox 16"/>
          <p:cNvSpPr txBox="1"/>
          <p:nvPr/>
        </p:nvSpPr>
        <p:spPr>
          <a:xfrm>
            <a:off x="288299" y="4015986"/>
            <a:ext cx="2750089" cy="21012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Advanced task: Exploring other Local Moves Operators:</a:t>
            </a:r>
          </a:p>
          <a:p>
            <a:pPr algn="l">
              <a:lnSpc>
                <a:spcPts val="3359"/>
              </a:lnSpc>
            </a:pPr>
            <a:r>
              <a:rPr lang="en-US" sz="2400">
                <a:solidFill>
                  <a:srgbClr val="FFFFFF"/>
                </a:solidFill>
                <a:latin typeface="Poppins"/>
                <a:ea typeface="Poppins"/>
                <a:cs typeface="Poppins"/>
                <a:sym typeface="Poppins"/>
              </a:rPr>
              <a:t>Discussion</a:t>
            </a:r>
          </a:p>
        </p:txBody>
      </p:sp>
      <p:sp>
        <p:nvSpPr>
          <p:cNvPr id="17" name="TextBox 17"/>
          <p:cNvSpPr txBox="1"/>
          <p:nvPr/>
        </p:nvSpPr>
        <p:spPr>
          <a:xfrm>
            <a:off x="3604431" y="209065"/>
            <a:ext cx="571517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Thực nghiệm với n=12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graphicFrame>
        <p:nvGraphicFramePr>
          <p:cNvPr id="11" name="Table 11"/>
          <p:cNvGraphicFramePr>
            <a:graphicFrameLocks noGrp="1"/>
          </p:cNvGraphicFramePr>
          <p:nvPr/>
        </p:nvGraphicFramePr>
        <p:xfrm>
          <a:off x="3573896" y="949439"/>
          <a:ext cx="13867470" cy="4914593"/>
        </p:xfrm>
        <a:graphic>
          <a:graphicData uri="http://schemas.openxmlformats.org/drawingml/2006/table">
            <a:tbl>
              <a:tblPr/>
              <a:tblGrid>
                <a:gridCol w="2876978">
                  <a:extLst>
                    <a:ext uri="{9D8B030D-6E8A-4147-A177-3AD203B41FA5}">
                      <a16:colId xmlns:a16="http://schemas.microsoft.com/office/drawing/2014/main" val="20000"/>
                    </a:ext>
                  </a:extLst>
                </a:gridCol>
                <a:gridCol w="4267130">
                  <a:extLst>
                    <a:ext uri="{9D8B030D-6E8A-4147-A177-3AD203B41FA5}">
                      <a16:colId xmlns:a16="http://schemas.microsoft.com/office/drawing/2014/main" val="20001"/>
                    </a:ext>
                  </a:extLst>
                </a:gridCol>
                <a:gridCol w="6723362">
                  <a:extLst>
                    <a:ext uri="{9D8B030D-6E8A-4147-A177-3AD203B41FA5}">
                      <a16:colId xmlns:a16="http://schemas.microsoft.com/office/drawing/2014/main" val="20002"/>
                    </a:ext>
                  </a:extLst>
                </a:gridCol>
              </a:tblGrid>
              <a:tr h="85104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Move Operator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Đặc điểm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Hiệu quả</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104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Single-step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Di chuyển nhẹ, ít thay đổi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Chậm hội tụ, dễ bị kẹt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80729">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Column swap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Đổi vị trí 2 quân hậu</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Giúp thoát local optima, nhưng không cải thiện xung đột trực tiếp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1045">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Dual-queen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Di chuyển 2 quân cùng lúc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Tạo thay đổi lớn, hội tụ nhanh hơn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80729">
                <a:tc>
                  <a:txBody>
                    <a:bodyPr/>
                    <a:lstStyle/>
                    <a:p>
                      <a:pPr algn="ctr">
                        <a:lnSpc>
                          <a:spcPts val="2800"/>
                        </a:lnSpc>
                        <a:defRPr/>
                      </a:pPr>
                      <a:r>
                        <a:rPr lang="en-US" sz="2000" b="1">
                          <a:solidFill>
                            <a:srgbClr val="000000"/>
                          </a:solidFill>
                          <a:latin typeface="Canva Sans Bold"/>
                          <a:ea typeface="Canva Sans Bold"/>
                          <a:cs typeface="Canva Sans Bold"/>
                          <a:sym typeface="Canva Sans Bold"/>
                        </a:rPr>
                        <a:t>Adaptive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Tùy trạng thái, chọn chiến lược phù hợp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Canva Sans"/>
                          <a:ea typeface="Canva Sans"/>
                          <a:cs typeface="Canva Sans"/>
                          <a:sym typeface="Canva Sans"/>
                        </a:rPr>
                        <a:t>Hiệu quả nhất, cân bằng giữa khai phá và khai thác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32</a:t>
            </a:r>
          </a:p>
        </p:txBody>
      </p:sp>
      <p:sp>
        <p:nvSpPr>
          <p:cNvPr id="14" name="TextBox 14"/>
          <p:cNvSpPr txBox="1"/>
          <p:nvPr/>
        </p:nvSpPr>
        <p:spPr>
          <a:xfrm>
            <a:off x="288299" y="4015986"/>
            <a:ext cx="2750089" cy="21012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Advanced task: Exploring other Local Moves Operators:</a:t>
            </a:r>
          </a:p>
          <a:p>
            <a:pPr algn="l">
              <a:lnSpc>
                <a:spcPts val="3359"/>
              </a:lnSpc>
            </a:pPr>
            <a:r>
              <a:rPr lang="en-US" sz="2400">
                <a:solidFill>
                  <a:srgbClr val="FFFFFF"/>
                </a:solidFill>
                <a:latin typeface="Poppins"/>
                <a:ea typeface="Poppins"/>
                <a:cs typeface="Poppins"/>
                <a:sym typeface="Poppins"/>
              </a:rPr>
              <a:t>Discussion</a:t>
            </a:r>
          </a:p>
        </p:txBody>
      </p:sp>
      <p:sp>
        <p:nvSpPr>
          <p:cNvPr id="15" name="TextBox 15"/>
          <p:cNvSpPr txBox="1"/>
          <p:nvPr/>
        </p:nvSpPr>
        <p:spPr>
          <a:xfrm>
            <a:off x="3604431" y="209065"/>
            <a:ext cx="7112996"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Discussion: Local Move Operators</a:t>
            </a:r>
          </a:p>
        </p:txBody>
      </p:sp>
      <p:sp>
        <p:nvSpPr>
          <p:cNvPr id="16" name="TextBox 16"/>
          <p:cNvSpPr txBox="1"/>
          <p:nvPr/>
        </p:nvSpPr>
        <p:spPr>
          <a:xfrm>
            <a:off x="3589164" y="6031476"/>
            <a:ext cx="13836935" cy="281432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Poppins"/>
                <a:ea typeface="Poppins"/>
                <a:cs typeface="Poppins"/>
                <a:sym typeface="Poppins"/>
              </a:rPr>
              <a:t>Trong các thử nghiệm, Adaptive move cho kết quả tốt nhất cả về chất lượng lời giải và thời gian hội tụ. </a:t>
            </a:r>
          </a:p>
          <a:p>
            <a:pPr marL="690881" lvl="1" indent="-345440" algn="l">
              <a:lnSpc>
                <a:spcPts val="4480"/>
              </a:lnSpc>
              <a:buFont typeface="Arial"/>
              <a:buChar char="•"/>
            </a:pPr>
            <a:r>
              <a:rPr lang="en-US" sz="3200">
                <a:solidFill>
                  <a:srgbClr val="000000"/>
                </a:solidFill>
                <a:latin typeface="Poppins"/>
                <a:ea typeface="Poppins"/>
                <a:cs typeface="Poppins"/>
                <a:sym typeface="Poppins"/>
              </a:rPr>
              <a:t>Dual-queen move cũng cho kết quả ổn định. </a:t>
            </a:r>
          </a:p>
          <a:p>
            <a:pPr marL="690881" lvl="1" indent="-345440" algn="l">
              <a:lnSpc>
                <a:spcPts val="4480"/>
              </a:lnSpc>
              <a:buFont typeface="Arial"/>
              <a:buChar char="•"/>
            </a:pPr>
            <a:r>
              <a:rPr lang="en-US" sz="3200">
                <a:solidFill>
                  <a:srgbClr val="000000"/>
                </a:solidFill>
                <a:latin typeface="Poppins"/>
                <a:ea typeface="Poppins"/>
                <a:cs typeface="Poppins"/>
                <a:sym typeface="Poppins"/>
              </a:rPr>
              <a:t>Single-step thường bị kẹt ở local optima, còn Column swap giúp thoát nhưng không cải thiện trực tiếp xung đột.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4600"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17959" y="2214455"/>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46125" y="592094"/>
            <a:ext cx="3981709" cy="4096385"/>
          </a:xfrm>
          <a:prstGeom prst="rect">
            <a:avLst/>
          </a:prstGeom>
        </p:spPr>
        <p:txBody>
          <a:bodyPr lIns="0" tIns="0" rIns="0" bIns="0" rtlCol="0" anchor="t">
            <a:spAutoFit/>
          </a:bodyPr>
          <a:lstStyle/>
          <a:p>
            <a:pPr algn="l">
              <a:lnSpc>
                <a:spcPts val="6399"/>
              </a:lnSpc>
            </a:pPr>
            <a:r>
              <a:rPr lang="en-US" sz="6399" b="1">
                <a:solidFill>
                  <a:srgbClr val="FFFFFF"/>
                </a:solidFill>
                <a:latin typeface="Inter Bold"/>
                <a:ea typeface="Inter Bold"/>
                <a:cs typeface="Inter Bold"/>
                <a:sym typeface="Inter Bold"/>
              </a:rPr>
              <a:t>n-Queen Problem using Local Search</a:t>
            </a:r>
          </a:p>
        </p:txBody>
      </p:sp>
      <p:sp>
        <p:nvSpPr>
          <p:cNvPr id="12" name="TextBox 12"/>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33</a:t>
            </a:r>
          </a:p>
        </p:txBody>
      </p:sp>
      <p:sp>
        <p:nvSpPr>
          <p:cNvPr id="13" name="TextBox 13"/>
          <p:cNvSpPr txBox="1"/>
          <p:nvPr/>
        </p:nvSpPr>
        <p:spPr>
          <a:xfrm>
            <a:off x="5586077" y="601619"/>
            <a:ext cx="11673223" cy="2498725"/>
          </a:xfrm>
          <a:prstGeom prst="rect">
            <a:avLst/>
          </a:prstGeom>
        </p:spPr>
        <p:txBody>
          <a:bodyPr lIns="0" tIns="0" rIns="0" bIns="0" rtlCol="0" anchor="t">
            <a:spAutoFit/>
          </a:bodyPr>
          <a:lstStyle/>
          <a:p>
            <a:pPr algn="l">
              <a:lnSpc>
                <a:spcPts val="6499"/>
              </a:lnSpc>
            </a:pPr>
            <a:r>
              <a:rPr lang="en-US" sz="6499" b="1">
                <a:solidFill>
                  <a:srgbClr val="263744"/>
                </a:solidFill>
                <a:latin typeface="Inter Bold"/>
                <a:ea typeface="Inter Bold"/>
                <a:cs typeface="Inter Bold"/>
                <a:sym typeface="Inter Bold"/>
              </a:rPr>
              <a:t>Implement a Genetic Algorithm for the n-Queens problem</a:t>
            </a:r>
          </a:p>
        </p:txBody>
      </p:sp>
      <p:sp>
        <p:nvSpPr>
          <p:cNvPr id="14" name="TextBox 14"/>
          <p:cNvSpPr txBox="1"/>
          <p:nvPr/>
        </p:nvSpPr>
        <p:spPr>
          <a:xfrm>
            <a:off x="5586077" y="3504512"/>
            <a:ext cx="11634062" cy="56642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Poppins"/>
                <a:ea typeface="Poppins"/>
                <a:cs typeface="Poppins"/>
                <a:sym typeface="Poppins"/>
              </a:rPr>
              <a:t>Sử dụng thuật toán di truyền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6369357" y="8377882"/>
            <a:ext cx="1779886" cy="1779886"/>
          </a:xfrm>
          <a:custGeom>
            <a:avLst/>
            <a:gdLst/>
            <a:ahLst/>
            <a:cxnLst/>
            <a:rect l="l" t="t" r="r" b="b"/>
            <a:pathLst>
              <a:path w="1779886" h="1779886">
                <a:moveTo>
                  <a:pt x="0" y="0"/>
                </a:moveTo>
                <a:lnTo>
                  <a:pt x="1779886" y="0"/>
                </a:lnTo>
                <a:lnTo>
                  <a:pt x="1779886" y="1779886"/>
                </a:lnTo>
                <a:lnTo>
                  <a:pt x="0" y="1779886"/>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40352" y="448285"/>
            <a:ext cx="2845982" cy="30841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n-Queen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34</a:t>
            </a:r>
          </a:p>
        </p:txBody>
      </p:sp>
      <p:sp>
        <p:nvSpPr>
          <p:cNvPr id="14" name="TextBox 14"/>
          <p:cNvSpPr txBox="1"/>
          <p:nvPr/>
        </p:nvSpPr>
        <p:spPr>
          <a:xfrm>
            <a:off x="288299" y="4015986"/>
            <a:ext cx="2750089" cy="21012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Implement a Genetic Algorithm for the n-Queens problem</a:t>
            </a:r>
          </a:p>
        </p:txBody>
      </p:sp>
      <p:sp>
        <p:nvSpPr>
          <p:cNvPr id="15" name="Freeform 15"/>
          <p:cNvSpPr/>
          <p:nvPr/>
        </p:nvSpPr>
        <p:spPr>
          <a:xfrm>
            <a:off x="3604431" y="1028700"/>
            <a:ext cx="6930957" cy="8229600"/>
          </a:xfrm>
          <a:custGeom>
            <a:avLst/>
            <a:gdLst/>
            <a:ahLst/>
            <a:cxnLst/>
            <a:rect l="l" t="t" r="r" b="b"/>
            <a:pathLst>
              <a:path w="6930957" h="8229600">
                <a:moveTo>
                  <a:pt x="0" y="0"/>
                </a:moveTo>
                <a:lnTo>
                  <a:pt x="6930958" y="0"/>
                </a:lnTo>
                <a:lnTo>
                  <a:pt x="6930958" y="8229600"/>
                </a:lnTo>
                <a:lnTo>
                  <a:pt x="0" y="8229600"/>
                </a:lnTo>
                <a:lnTo>
                  <a:pt x="0" y="0"/>
                </a:lnTo>
                <a:close/>
              </a:path>
            </a:pathLst>
          </a:custGeom>
          <a:blipFill>
            <a:blip r:embed="rId3"/>
            <a:stretch>
              <a:fillRect/>
            </a:stretch>
          </a:blipFill>
        </p:spPr>
        <p:txBody>
          <a:bodyPr/>
          <a:lstStyle/>
          <a:p>
            <a:endParaRPr lang="en-US"/>
          </a:p>
        </p:txBody>
      </p:sp>
      <p:sp>
        <p:nvSpPr>
          <p:cNvPr id="16" name="TextBox 16"/>
          <p:cNvSpPr txBox="1"/>
          <p:nvPr/>
        </p:nvSpPr>
        <p:spPr>
          <a:xfrm>
            <a:off x="3604431" y="276835"/>
            <a:ext cx="7112996"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Chạy thuật toán với n=8</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380439" y="141891"/>
            <a:ext cx="6685078" cy="8895740"/>
          </a:xfrm>
          <a:custGeom>
            <a:avLst/>
            <a:gdLst/>
            <a:ahLst/>
            <a:cxnLst/>
            <a:rect l="l" t="t" r="r" b="b"/>
            <a:pathLst>
              <a:path w="6685078" h="8895740">
                <a:moveTo>
                  <a:pt x="0" y="0"/>
                </a:moveTo>
                <a:lnTo>
                  <a:pt x="6685078" y="0"/>
                </a:lnTo>
                <a:lnTo>
                  <a:pt x="6685078" y="8895740"/>
                </a:lnTo>
                <a:lnTo>
                  <a:pt x="0" y="8895740"/>
                </a:lnTo>
                <a:lnTo>
                  <a:pt x="0" y="0"/>
                </a:lnTo>
                <a:close/>
              </a:path>
            </a:pathLst>
          </a:custGeom>
          <a:blipFill>
            <a:blip r:embed="rId2"/>
            <a:stretch>
              <a:fillRect r="-8129"/>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35</a:t>
            </a:r>
          </a:p>
        </p:txBody>
      </p:sp>
      <p:sp>
        <p:nvSpPr>
          <p:cNvPr id="14" name="TextBox 14"/>
          <p:cNvSpPr txBox="1"/>
          <p:nvPr/>
        </p:nvSpPr>
        <p:spPr>
          <a:xfrm>
            <a:off x="192727" y="4317814"/>
            <a:ext cx="2750089" cy="12630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Steepest-ascend Hill Climbing Search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4175108" y="370360"/>
            <a:ext cx="12665047" cy="9546279"/>
          </a:xfrm>
          <a:custGeom>
            <a:avLst/>
            <a:gdLst/>
            <a:ahLst/>
            <a:cxnLst/>
            <a:rect l="l" t="t" r="r" b="b"/>
            <a:pathLst>
              <a:path w="12665047" h="9546279">
                <a:moveTo>
                  <a:pt x="0" y="0"/>
                </a:moveTo>
                <a:lnTo>
                  <a:pt x="12665047" y="0"/>
                </a:lnTo>
                <a:lnTo>
                  <a:pt x="12665047" y="9546280"/>
                </a:lnTo>
                <a:lnTo>
                  <a:pt x="0" y="9546280"/>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37</a:t>
            </a:r>
          </a:p>
        </p:txBody>
      </p:sp>
      <p:sp>
        <p:nvSpPr>
          <p:cNvPr id="14" name="TextBox 14"/>
          <p:cNvSpPr txBox="1"/>
          <p:nvPr/>
        </p:nvSpPr>
        <p:spPr>
          <a:xfrm>
            <a:off x="192727" y="4317814"/>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Steepest-ascend Hill Climbing Search with Random Restarts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4864880" y="1430375"/>
            <a:ext cx="11285503" cy="3761834"/>
          </a:xfrm>
          <a:custGeom>
            <a:avLst/>
            <a:gdLst/>
            <a:ahLst/>
            <a:cxnLst/>
            <a:rect l="l" t="t" r="r" b="b"/>
            <a:pathLst>
              <a:path w="11285503" h="3761834">
                <a:moveTo>
                  <a:pt x="0" y="0"/>
                </a:moveTo>
                <a:lnTo>
                  <a:pt x="11285503" y="0"/>
                </a:lnTo>
                <a:lnTo>
                  <a:pt x="11285503" y="3761834"/>
                </a:lnTo>
                <a:lnTo>
                  <a:pt x="0" y="3761834"/>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38</a:t>
            </a:r>
          </a:p>
        </p:txBody>
      </p:sp>
      <p:sp>
        <p:nvSpPr>
          <p:cNvPr id="14" name="TextBox 14"/>
          <p:cNvSpPr txBox="1"/>
          <p:nvPr/>
        </p:nvSpPr>
        <p:spPr>
          <a:xfrm>
            <a:off x="192727" y="4317814"/>
            <a:ext cx="2750089" cy="16821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Steepest-ascend Hill Climbing Search with Random Restarts</a:t>
            </a:r>
          </a:p>
        </p:txBody>
      </p:sp>
      <p:sp>
        <p:nvSpPr>
          <p:cNvPr id="15" name="TextBox 15"/>
          <p:cNvSpPr txBox="1"/>
          <p:nvPr/>
        </p:nvSpPr>
        <p:spPr>
          <a:xfrm>
            <a:off x="4128613" y="702628"/>
            <a:ext cx="7112996"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Kết quả</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39</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Stochastic Hill Climbing</a:t>
            </a:r>
          </a:p>
        </p:txBody>
      </p:sp>
      <p:pic>
        <p:nvPicPr>
          <p:cNvPr id="16" name="Picture 15">
            <a:extLst>
              <a:ext uri="{FF2B5EF4-FFF2-40B4-BE49-F238E27FC236}">
                <a16:creationId xmlns:a16="http://schemas.microsoft.com/office/drawing/2014/main" id="{5E73EC9E-AE02-2F5A-D7E6-FA3987FC1A67}"/>
              </a:ext>
            </a:extLst>
          </p:cNvPr>
          <p:cNvPicPr>
            <a:picLocks noChangeAspect="1"/>
          </p:cNvPicPr>
          <p:nvPr/>
        </p:nvPicPr>
        <p:blipFill>
          <a:blip r:embed="rId2"/>
          <a:stretch>
            <a:fillRect/>
          </a:stretch>
        </p:blipFill>
        <p:spPr>
          <a:xfrm>
            <a:off x="3231781" y="-11061"/>
            <a:ext cx="14863491" cy="911696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4353814" y="1545178"/>
            <a:ext cx="12307635" cy="3616551"/>
          </a:xfrm>
          <a:custGeom>
            <a:avLst/>
            <a:gdLst/>
            <a:ahLst/>
            <a:cxnLst/>
            <a:rect l="l" t="t" r="r" b="b"/>
            <a:pathLst>
              <a:path w="12307635" h="3616551">
                <a:moveTo>
                  <a:pt x="0" y="0"/>
                </a:moveTo>
                <a:lnTo>
                  <a:pt x="12307635" y="0"/>
                </a:lnTo>
                <a:lnTo>
                  <a:pt x="12307635" y="3616551"/>
                </a:lnTo>
                <a:lnTo>
                  <a:pt x="0" y="3616551"/>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40</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Stochastic Hill Climbing</a:t>
            </a:r>
          </a:p>
        </p:txBody>
      </p:sp>
      <p:sp>
        <p:nvSpPr>
          <p:cNvPr id="15" name="TextBox 15"/>
          <p:cNvSpPr txBox="1"/>
          <p:nvPr/>
        </p:nvSpPr>
        <p:spPr>
          <a:xfrm>
            <a:off x="4128613" y="702628"/>
            <a:ext cx="7112996"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Kết quả</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548992" y="2039839"/>
            <a:ext cx="13917279" cy="6207321"/>
          </a:xfrm>
          <a:custGeom>
            <a:avLst/>
            <a:gdLst/>
            <a:ahLst/>
            <a:cxnLst/>
            <a:rect l="l" t="t" r="r" b="b"/>
            <a:pathLst>
              <a:path w="13917279" h="6207321">
                <a:moveTo>
                  <a:pt x="0" y="0"/>
                </a:moveTo>
                <a:lnTo>
                  <a:pt x="13917279" y="0"/>
                </a:lnTo>
                <a:lnTo>
                  <a:pt x="13917279" y="6207322"/>
                </a:lnTo>
                <a:lnTo>
                  <a:pt x="0" y="6207322"/>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41</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First-choice Hill Climbing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4235417" y="1514146"/>
            <a:ext cx="12544428" cy="4481803"/>
          </a:xfrm>
          <a:custGeom>
            <a:avLst/>
            <a:gdLst/>
            <a:ahLst/>
            <a:cxnLst/>
            <a:rect l="l" t="t" r="r" b="b"/>
            <a:pathLst>
              <a:path w="12544428" h="4481803">
                <a:moveTo>
                  <a:pt x="0" y="0"/>
                </a:moveTo>
                <a:lnTo>
                  <a:pt x="12544428" y="0"/>
                </a:lnTo>
                <a:lnTo>
                  <a:pt x="12544428" y="4481803"/>
                </a:lnTo>
                <a:lnTo>
                  <a:pt x="0" y="4481803"/>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42</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First-choice Hill Climbing</a:t>
            </a:r>
          </a:p>
        </p:txBody>
      </p:sp>
      <p:sp>
        <p:nvSpPr>
          <p:cNvPr id="15" name="TextBox 15"/>
          <p:cNvSpPr txBox="1"/>
          <p:nvPr/>
        </p:nvSpPr>
        <p:spPr>
          <a:xfrm>
            <a:off x="4128613" y="702628"/>
            <a:ext cx="7112996"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Kết quả</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508624" y="812864"/>
            <a:ext cx="13998015" cy="8661272"/>
          </a:xfrm>
          <a:custGeom>
            <a:avLst/>
            <a:gdLst/>
            <a:ahLst/>
            <a:cxnLst/>
            <a:rect l="l" t="t" r="r" b="b"/>
            <a:pathLst>
              <a:path w="13998015" h="8661272">
                <a:moveTo>
                  <a:pt x="0" y="0"/>
                </a:moveTo>
                <a:lnTo>
                  <a:pt x="13998015" y="0"/>
                </a:lnTo>
                <a:lnTo>
                  <a:pt x="13998015" y="8661272"/>
                </a:lnTo>
                <a:lnTo>
                  <a:pt x="0" y="8661272"/>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43</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Simulated Annealing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4160246" y="1423608"/>
            <a:ext cx="12694772" cy="3573895"/>
          </a:xfrm>
          <a:custGeom>
            <a:avLst/>
            <a:gdLst/>
            <a:ahLst/>
            <a:cxnLst/>
            <a:rect l="l" t="t" r="r" b="b"/>
            <a:pathLst>
              <a:path w="12694772" h="3573895">
                <a:moveTo>
                  <a:pt x="0" y="0"/>
                </a:moveTo>
                <a:lnTo>
                  <a:pt x="12694771" y="0"/>
                </a:lnTo>
                <a:lnTo>
                  <a:pt x="12694771" y="3573895"/>
                </a:lnTo>
                <a:lnTo>
                  <a:pt x="0" y="3573895"/>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44</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Simulated Annealing</a:t>
            </a:r>
          </a:p>
        </p:txBody>
      </p:sp>
      <p:sp>
        <p:nvSpPr>
          <p:cNvPr id="15" name="TextBox 15"/>
          <p:cNvSpPr txBox="1"/>
          <p:nvPr/>
        </p:nvSpPr>
        <p:spPr>
          <a:xfrm>
            <a:off x="4128613" y="702628"/>
            <a:ext cx="7112996"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Kết quả</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448382" y="2231560"/>
            <a:ext cx="14118499" cy="5823881"/>
          </a:xfrm>
          <a:custGeom>
            <a:avLst/>
            <a:gdLst/>
            <a:ahLst/>
            <a:cxnLst/>
            <a:rect l="l" t="t" r="r" b="b"/>
            <a:pathLst>
              <a:path w="14118499" h="5823881">
                <a:moveTo>
                  <a:pt x="0" y="0"/>
                </a:moveTo>
                <a:lnTo>
                  <a:pt x="14118499" y="0"/>
                </a:lnTo>
                <a:lnTo>
                  <a:pt x="14118499" y="5823880"/>
                </a:lnTo>
                <a:lnTo>
                  <a:pt x="0" y="5823880"/>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45</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Compare Performance</a:t>
            </a:r>
          </a:p>
        </p:txBody>
      </p:sp>
      <p:sp>
        <p:nvSpPr>
          <p:cNvPr id="15" name="TextBox 15"/>
          <p:cNvSpPr txBox="1"/>
          <p:nvPr/>
        </p:nvSpPr>
        <p:spPr>
          <a:xfrm>
            <a:off x="4128613" y="702628"/>
            <a:ext cx="1343826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Sử dụng kích thước các board: 10, 20, 30, 40, 50 (số thành phố)</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909938" y="434397"/>
            <a:ext cx="13195386" cy="9418207"/>
          </a:xfrm>
          <a:custGeom>
            <a:avLst/>
            <a:gdLst/>
            <a:ahLst/>
            <a:cxnLst/>
            <a:rect l="l" t="t" r="r" b="b"/>
            <a:pathLst>
              <a:path w="13195386" h="9418207">
                <a:moveTo>
                  <a:pt x="0" y="0"/>
                </a:moveTo>
                <a:lnTo>
                  <a:pt x="13195386" y="0"/>
                </a:lnTo>
                <a:lnTo>
                  <a:pt x="13195386" y="9418206"/>
                </a:lnTo>
                <a:lnTo>
                  <a:pt x="0" y="9418206"/>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46</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Genetic Algorithm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645432" y="1223469"/>
            <a:ext cx="13724399" cy="7840063"/>
          </a:xfrm>
          <a:custGeom>
            <a:avLst/>
            <a:gdLst/>
            <a:ahLst/>
            <a:cxnLst/>
            <a:rect l="l" t="t" r="r" b="b"/>
            <a:pathLst>
              <a:path w="13724399" h="7840063">
                <a:moveTo>
                  <a:pt x="0" y="0"/>
                </a:moveTo>
                <a:lnTo>
                  <a:pt x="13724399" y="0"/>
                </a:lnTo>
                <a:lnTo>
                  <a:pt x="13724399" y="7840062"/>
                </a:lnTo>
                <a:lnTo>
                  <a:pt x="0" y="7840062"/>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47</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Genetic Algorithm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1077" y="-489321"/>
            <a:ext cx="5982858" cy="9747621"/>
            <a:chOff x="0" y="0"/>
            <a:chExt cx="1575732" cy="2567275"/>
          </a:xfrm>
        </p:grpSpPr>
        <p:sp>
          <p:nvSpPr>
            <p:cNvPr id="3" name="Freeform 3"/>
            <p:cNvSpPr/>
            <p:nvPr/>
          </p:nvSpPr>
          <p:spPr>
            <a:xfrm>
              <a:off x="0" y="0"/>
              <a:ext cx="1575732" cy="2567275"/>
            </a:xfrm>
            <a:custGeom>
              <a:avLst/>
              <a:gdLst/>
              <a:ahLst/>
              <a:cxnLst/>
              <a:rect l="l" t="t" r="r" b="b"/>
              <a:pathLst>
                <a:path w="1575732" h="2567275">
                  <a:moveTo>
                    <a:pt x="65995" y="0"/>
                  </a:moveTo>
                  <a:lnTo>
                    <a:pt x="1509737" y="0"/>
                  </a:lnTo>
                  <a:cubicBezTo>
                    <a:pt x="1527240" y="0"/>
                    <a:pt x="1544026" y="6953"/>
                    <a:pt x="1556403" y="19329"/>
                  </a:cubicBezTo>
                  <a:cubicBezTo>
                    <a:pt x="1568779" y="31706"/>
                    <a:pt x="1575732" y="48492"/>
                    <a:pt x="1575732" y="65995"/>
                  </a:cubicBezTo>
                  <a:lnTo>
                    <a:pt x="1575732" y="2501280"/>
                  </a:lnTo>
                  <a:cubicBezTo>
                    <a:pt x="1575732" y="2537728"/>
                    <a:pt x="1546185" y="2567275"/>
                    <a:pt x="1509737" y="2567275"/>
                  </a:cubicBezTo>
                  <a:lnTo>
                    <a:pt x="65995" y="2567275"/>
                  </a:lnTo>
                  <a:cubicBezTo>
                    <a:pt x="29547" y="2567275"/>
                    <a:pt x="0" y="2537728"/>
                    <a:pt x="0" y="2501280"/>
                  </a:cubicBezTo>
                  <a:lnTo>
                    <a:pt x="0" y="65995"/>
                  </a:lnTo>
                  <a:cubicBezTo>
                    <a:pt x="0" y="29547"/>
                    <a:pt x="29547" y="0"/>
                    <a:pt x="65995"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4" name="TextBox 4"/>
            <p:cNvSpPr txBox="1"/>
            <p:nvPr/>
          </p:nvSpPr>
          <p:spPr>
            <a:xfrm>
              <a:off x="0" y="-38100"/>
              <a:ext cx="1575732" cy="2605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83482" y="641910"/>
            <a:ext cx="2092393" cy="6226275"/>
            <a:chOff x="0" y="0"/>
            <a:chExt cx="551083" cy="1639842"/>
          </a:xfrm>
        </p:grpSpPr>
        <p:sp>
          <p:nvSpPr>
            <p:cNvPr id="6" name="Freeform 6"/>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txBody>
            <a:bodyPr/>
            <a:lstStyle/>
            <a:p>
              <a:endParaRPr lang="en-US"/>
            </a:p>
          </p:txBody>
        </p:sp>
        <p:sp>
          <p:nvSpPr>
            <p:cNvPr id="7" name="TextBox 7"/>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38565" y="9545579"/>
            <a:ext cx="1273446" cy="477152"/>
            <a:chOff x="0" y="0"/>
            <a:chExt cx="1084619" cy="406400"/>
          </a:xfrm>
        </p:grpSpPr>
        <p:sp>
          <p:nvSpPr>
            <p:cNvPr id="9" name="Freeform 9"/>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0" name="TextBox 10"/>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494151" y="1616837"/>
            <a:ext cx="10026961" cy="1549420"/>
          </a:xfrm>
          <a:custGeom>
            <a:avLst/>
            <a:gdLst/>
            <a:ahLst/>
            <a:cxnLst/>
            <a:rect l="l" t="t" r="r" b="b"/>
            <a:pathLst>
              <a:path w="10026961" h="1549420">
                <a:moveTo>
                  <a:pt x="0" y="0"/>
                </a:moveTo>
                <a:lnTo>
                  <a:pt x="10026961" y="0"/>
                </a:lnTo>
                <a:lnTo>
                  <a:pt x="10026961" y="1549420"/>
                </a:lnTo>
                <a:lnTo>
                  <a:pt x="0" y="1549420"/>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92727" y="448285"/>
            <a:ext cx="2991429" cy="3693795"/>
          </a:xfrm>
          <a:prstGeom prst="rect">
            <a:avLst/>
          </a:prstGeom>
        </p:spPr>
        <p:txBody>
          <a:bodyPr lIns="0" tIns="0" rIns="0" bIns="0" rtlCol="0" anchor="t">
            <a:spAutoFit/>
          </a:bodyPr>
          <a:lstStyle/>
          <a:p>
            <a:pPr algn="l">
              <a:lnSpc>
                <a:spcPts val="4800"/>
              </a:lnSpc>
            </a:pPr>
            <a:r>
              <a:rPr lang="en-US" sz="4800" b="1">
                <a:solidFill>
                  <a:srgbClr val="FFFFFF"/>
                </a:solidFill>
                <a:latin typeface="Inter Bold"/>
                <a:ea typeface="Inter Bold"/>
                <a:cs typeface="Inter Bold"/>
                <a:sym typeface="Inter Bold"/>
              </a:rPr>
              <a:t>Traveling Salesman Problem using Local Search</a:t>
            </a:r>
          </a:p>
        </p:txBody>
      </p:sp>
      <p:sp>
        <p:nvSpPr>
          <p:cNvPr id="13" name="TextBox 13"/>
          <p:cNvSpPr txBox="1"/>
          <p:nvPr/>
        </p:nvSpPr>
        <p:spPr>
          <a:xfrm>
            <a:off x="308309" y="9630897"/>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48</a:t>
            </a:r>
          </a:p>
        </p:txBody>
      </p:sp>
      <p:sp>
        <p:nvSpPr>
          <p:cNvPr id="14" name="TextBox 14"/>
          <p:cNvSpPr txBox="1"/>
          <p:nvPr/>
        </p:nvSpPr>
        <p:spPr>
          <a:xfrm>
            <a:off x="192727" y="4317814"/>
            <a:ext cx="2750089" cy="8439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Genetic Algorithm</a:t>
            </a:r>
          </a:p>
        </p:txBody>
      </p:sp>
      <p:sp>
        <p:nvSpPr>
          <p:cNvPr id="15" name="TextBox 15"/>
          <p:cNvSpPr txBox="1"/>
          <p:nvPr/>
        </p:nvSpPr>
        <p:spPr>
          <a:xfrm>
            <a:off x="4128613" y="702628"/>
            <a:ext cx="13438268" cy="566420"/>
          </a:xfrm>
          <a:prstGeom prst="rect">
            <a:avLst/>
          </a:prstGeom>
        </p:spPr>
        <p:txBody>
          <a:bodyPr lIns="0" tIns="0" rIns="0" bIns="0" rtlCol="0" anchor="t">
            <a:spAutoFit/>
          </a:bodyPr>
          <a:lstStyle/>
          <a:p>
            <a:pPr algn="l">
              <a:lnSpc>
                <a:spcPts val="4480"/>
              </a:lnSpc>
            </a:pPr>
            <a:r>
              <a:rPr lang="en-US" sz="3200">
                <a:solidFill>
                  <a:srgbClr val="000000"/>
                </a:solidFill>
                <a:latin typeface="Poppins"/>
                <a:ea typeface="Poppins"/>
                <a:cs typeface="Poppins"/>
                <a:sym typeface="Poppins"/>
              </a:rPr>
              <a:t>Kết quả từ thuật toán di truyền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US"/>
          </a:p>
        </p:txBody>
      </p:sp>
      <p:grpSp>
        <p:nvGrpSpPr>
          <p:cNvPr id="3" name="Group 3"/>
          <p:cNvGrpSpPr/>
          <p:nvPr/>
        </p:nvGrpSpPr>
        <p:grpSpPr>
          <a:xfrm>
            <a:off x="1028700" y="0"/>
            <a:ext cx="17566674" cy="10680117"/>
            <a:chOff x="0" y="0"/>
            <a:chExt cx="4626614" cy="2812870"/>
          </a:xfrm>
        </p:grpSpPr>
        <p:sp>
          <p:nvSpPr>
            <p:cNvPr id="4" name="Freeform 4"/>
            <p:cNvSpPr/>
            <p:nvPr/>
          </p:nvSpPr>
          <p:spPr>
            <a:xfrm>
              <a:off x="0" y="0"/>
              <a:ext cx="4626614" cy="2812870"/>
            </a:xfrm>
            <a:custGeom>
              <a:avLst/>
              <a:gdLst/>
              <a:ahLst/>
              <a:cxnLst/>
              <a:rect l="l" t="t" r="r" b="b"/>
              <a:pathLst>
                <a:path w="4626614" h="2812870">
                  <a:moveTo>
                    <a:pt x="0" y="0"/>
                  </a:moveTo>
                  <a:lnTo>
                    <a:pt x="4626614" y="0"/>
                  </a:lnTo>
                  <a:lnTo>
                    <a:pt x="4626614" y="2812870"/>
                  </a:lnTo>
                  <a:lnTo>
                    <a:pt x="0" y="2812870"/>
                  </a:lnTo>
                  <a:close/>
                </a:path>
              </a:pathLst>
            </a:custGeom>
            <a:gradFill rotWithShape="1">
              <a:gsLst>
                <a:gs pos="0">
                  <a:srgbClr val="283E51">
                    <a:alpha val="0"/>
                  </a:srgbClr>
                </a:gs>
                <a:gs pos="33333">
                  <a:srgbClr val="283E51">
                    <a:alpha val="75500"/>
                  </a:srgbClr>
                </a:gs>
                <a:gs pos="66667">
                  <a:srgbClr val="283E51">
                    <a:alpha val="100000"/>
                  </a:srgbClr>
                </a:gs>
                <a:gs pos="100000">
                  <a:srgbClr val="122737">
                    <a:alpha val="100000"/>
                  </a:srgbClr>
                </a:gs>
              </a:gsLst>
              <a:lin ang="0"/>
            </a:gradFill>
          </p:spPr>
          <p:txBody>
            <a:bodyPr/>
            <a:lstStyle/>
            <a:p>
              <a:endParaRPr lang="en-US"/>
            </a:p>
          </p:txBody>
        </p:sp>
        <p:sp>
          <p:nvSpPr>
            <p:cNvPr id="5" name="TextBox 5"/>
            <p:cNvSpPr txBox="1"/>
            <p:nvPr/>
          </p:nvSpPr>
          <p:spPr>
            <a:xfrm>
              <a:off x="0" y="-38100"/>
              <a:ext cx="4626614" cy="285097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519881" y="3007153"/>
            <a:ext cx="4691794" cy="469179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89A8"/>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888395" y="3045253"/>
            <a:ext cx="2674155" cy="267415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CAE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2609208" y="6182504"/>
            <a:ext cx="1478343" cy="147834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CAE4">
                <a:alpha val="49804"/>
              </a:srgbClr>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3576637" y="4053013"/>
            <a:ext cx="11818095" cy="2307391"/>
          </a:xfrm>
          <a:prstGeom prst="rect">
            <a:avLst/>
          </a:prstGeom>
        </p:spPr>
        <p:txBody>
          <a:bodyPr lIns="0" tIns="0" rIns="0" bIns="0" rtlCol="0" anchor="t">
            <a:spAutoFit/>
          </a:bodyPr>
          <a:lstStyle/>
          <a:p>
            <a:pPr algn="r">
              <a:lnSpc>
                <a:spcPts val="18770"/>
              </a:lnSpc>
            </a:pPr>
            <a:r>
              <a:rPr lang="en-US" sz="13407" b="1">
                <a:solidFill>
                  <a:srgbClr val="FFFFFF"/>
                </a:solidFill>
                <a:latin typeface="Inter Bold"/>
                <a:ea typeface="Inter Bold"/>
                <a:cs typeface="Inter Bold"/>
                <a:sym typeface="Inter Bold"/>
              </a:rPr>
              <a:t>THANK YOU</a:t>
            </a:r>
          </a:p>
        </p:txBody>
      </p:sp>
      <p:grpSp>
        <p:nvGrpSpPr>
          <p:cNvPr id="16" name="Group 16"/>
          <p:cNvGrpSpPr/>
          <p:nvPr/>
        </p:nvGrpSpPr>
        <p:grpSpPr>
          <a:xfrm>
            <a:off x="15985854" y="8781148"/>
            <a:ext cx="1273446" cy="477152"/>
            <a:chOff x="0" y="0"/>
            <a:chExt cx="1084619" cy="406400"/>
          </a:xfrm>
        </p:grpSpPr>
        <p:sp>
          <p:nvSpPr>
            <p:cNvPr id="17" name="Freeform 17"/>
            <p:cNvSpPr/>
            <p:nvPr/>
          </p:nvSpPr>
          <p:spPr>
            <a:xfrm>
              <a:off x="0" y="0"/>
              <a:ext cx="1084619" cy="406400"/>
            </a:xfrm>
            <a:custGeom>
              <a:avLst/>
              <a:gdLst/>
              <a:ahLst/>
              <a:cxnLst/>
              <a:rect l="l" t="t" r="r" b="b"/>
              <a:pathLst>
                <a:path w="1084619" h="406400">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txBody>
            <a:bodyPr/>
            <a:lstStyle/>
            <a:p>
              <a:endParaRPr lang="en-US"/>
            </a:p>
          </p:txBody>
        </p:sp>
        <p:sp>
          <p:nvSpPr>
            <p:cNvPr id="18" name="TextBox 18"/>
            <p:cNvSpPr txBox="1"/>
            <p:nvPr/>
          </p:nvSpPr>
          <p:spPr>
            <a:xfrm>
              <a:off x="0" y="-38100"/>
              <a:ext cx="1084619" cy="444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6055598" y="8866465"/>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End</a:t>
            </a:r>
          </a:p>
        </p:txBody>
      </p:sp>
      <p:grpSp>
        <p:nvGrpSpPr>
          <p:cNvPr id="20" name="Group 20"/>
          <p:cNvGrpSpPr/>
          <p:nvPr/>
        </p:nvGrpSpPr>
        <p:grpSpPr>
          <a:xfrm>
            <a:off x="1028700" y="1028700"/>
            <a:ext cx="353245" cy="35324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4A2BB"/>
            </a:solidFill>
          </p:spPr>
          <p:txBody>
            <a:bodyPr/>
            <a:lstStyle/>
            <a:p>
              <a:endParaRPr lang="en-US"/>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3" name="TextBox 23"/>
          <p:cNvSpPr txBox="1"/>
          <p:nvPr/>
        </p:nvSpPr>
        <p:spPr>
          <a:xfrm>
            <a:off x="1680214" y="981075"/>
            <a:ext cx="4722166" cy="422275"/>
          </a:xfrm>
          <a:prstGeom prst="rect">
            <a:avLst/>
          </a:prstGeom>
        </p:spPr>
        <p:txBody>
          <a:bodyPr lIns="0" tIns="0" rIns="0" bIns="0" rtlCol="0" anchor="t">
            <a:spAutoFit/>
          </a:bodyPr>
          <a:lstStyle/>
          <a:p>
            <a:pPr algn="l">
              <a:lnSpc>
                <a:spcPts val="3499"/>
              </a:lnSpc>
            </a:pPr>
            <a:r>
              <a:rPr lang="en-US" sz="2499">
                <a:solidFill>
                  <a:srgbClr val="FFFFFF"/>
                </a:solidFill>
                <a:latin typeface="Canva Sans"/>
                <a:ea typeface="Canva Sans"/>
                <a:cs typeface="Canva Sans"/>
                <a:sym typeface="Canva Sans"/>
              </a:rPr>
              <a:t>Trí tuệ nhân tạo nâng cao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1760</Words>
  <Application>Microsoft Office PowerPoint</Application>
  <PresentationFormat>Custom</PresentationFormat>
  <Paragraphs>239</Paragraphs>
  <Slides>48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Inter</vt:lpstr>
      <vt:lpstr>Calibri</vt:lpstr>
      <vt:lpstr>Poppins Semi-Bold</vt:lpstr>
      <vt:lpstr>Inter Bold</vt:lpstr>
      <vt:lpstr>Poppins Bold</vt:lpstr>
      <vt:lpstr>Poppins</vt:lpstr>
      <vt:lpstr>Canva Sans</vt:lpstr>
      <vt:lpstr>Arial</vt:lpstr>
      <vt:lpstr>Montserrat Semi-Bold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TTNTNC Lab 03</dc:title>
  <cp:lastModifiedBy>Hùng Lê</cp:lastModifiedBy>
  <cp:revision>2</cp:revision>
  <dcterms:created xsi:type="dcterms:W3CDTF">2006-08-16T00:00:00Z</dcterms:created>
  <dcterms:modified xsi:type="dcterms:W3CDTF">2025-10-13T13:26:19Z</dcterms:modified>
  <dc:identifier>DAG1i_mxtTQ</dc:identifier>
</cp:coreProperties>
</file>